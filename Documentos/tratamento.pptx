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74"/>
  </p:notesMasterIdLst>
  <p:sldIdLst>
    <p:sldId id="256" r:id="rId2"/>
    <p:sldId id="257" r:id="rId3"/>
    <p:sldId id="261" r:id="rId4"/>
    <p:sldId id="263" r:id="rId5"/>
    <p:sldId id="264" r:id="rId6"/>
    <p:sldId id="265" r:id="rId7"/>
    <p:sldId id="272" r:id="rId8"/>
    <p:sldId id="266" r:id="rId9"/>
    <p:sldId id="267" r:id="rId10"/>
    <p:sldId id="268" r:id="rId11"/>
    <p:sldId id="269" r:id="rId12"/>
    <p:sldId id="296" r:id="rId13"/>
    <p:sldId id="297" r:id="rId14"/>
    <p:sldId id="298" r:id="rId15"/>
    <p:sldId id="299" r:id="rId16"/>
    <p:sldId id="300" r:id="rId17"/>
    <p:sldId id="290" r:id="rId18"/>
    <p:sldId id="301" r:id="rId19"/>
    <p:sldId id="302" r:id="rId20"/>
    <p:sldId id="303" r:id="rId21"/>
    <p:sldId id="304" r:id="rId22"/>
    <p:sldId id="305" r:id="rId23"/>
    <p:sldId id="308" r:id="rId24"/>
    <p:sldId id="294" r:id="rId25"/>
    <p:sldId id="307" r:id="rId26"/>
    <p:sldId id="310" r:id="rId27"/>
    <p:sldId id="309" r:id="rId28"/>
    <p:sldId id="311" r:id="rId29"/>
    <p:sldId id="312" r:id="rId30"/>
    <p:sldId id="313" r:id="rId31"/>
    <p:sldId id="314" r:id="rId32"/>
    <p:sldId id="315" r:id="rId33"/>
    <p:sldId id="316" r:id="rId34"/>
    <p:sldId id="317" r:id="rId35"/>
    <p:sldId id="318" r:id="rId36"/>
    <p:sldId id="319" r:id="rId37"/>
    <p:sldId id="324" r:id="rId38"/>
    <p:sldId id="325" r:id="rId39"/>
    <p:sldId id="322" r:id="rId40"/>
    <p:sldId id="326" r:id="rId41"/>
    <p:sldId id="327" r:id="rId42"/>
    <p:sldId id="328" r:id="rId43"/>
    <p:sldId id="329" r:id="rId44"/>
    <p:sldId id="330" r:id="rId45"/>
    <p:sldId id="331" r:id="rId46"/>
    <p:sldId id="332" r:id="rId47"/>
    <p:sldId id="333" r:id="rId48"/>
    <p:sldId id="320" r:id="rId49"/>
    <p:sldId id="334" r:id="rId50"/>
    <p:sldId id="338" r:id="rId51"/>
    <p:sldId id="335" r:id="rId52"/>
    <p:sldId id="337" r:id="rId53"/>
    <p:sldId id="345" r:id="rId54"/>
    <p:sldId id="358" r:id="rId55"/>
    <p:sldId id="359" r:id="rId56"/>
    <p:sldId id="343" r:id="rId57"/>
    <p:sldId id="344" r:id="rId58"/>
    <p:sldId id="346" r:id="rId59"/>
    <p:sldId id="348" r:id="rId60"/>
    <p:sldId id="349" r:id="rId61"/>
    <p:sldId id="350" r:id="rId62"/>
    <p:sldId id="351" r:id="rId63"/>
    <p:sldId id="352" r:id="rId64"/>
    <p:sldId id="353" r:id="rId65"/>
    <p:sldId id="354" r:id="rId66"/>
    <p:sldId id="355" r:id="rId67"/>
    <p:sldId id="356" r:id="rId68"/>
    <p:sldId id="347" r:id="rId69"/>
    <p:sldId id="357" r:id="rId70"/>
    <p:sldId id="339" r:id="rId71"/>
    <p:sldId id="340" r:id="rId72"/>
    <p:sldId id="341" r:id="rId73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BCF081-83BE-4039-0E4D-A36389F9CD00}" v="2" dt="2022-03-30T14:54:49.9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8" autoAdjust="0"/>
    <p:restoredTop sz="86391" autoAdjust="0"/>
  </p:normalViewPr>
  <p:slideViewPr>
    <p:cSldViewPr>
      <p:cViewPr varScale="1">
        <p:scale>
          <a:sx n="103" d="100"/>
          <a:sy n="103" d="100"/>
        </p:scale>
        <p:origin x="145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53" y="2595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Faculdade\Laboraorio%20fisica%203\reglin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Faculdade\Laboraorio%20fisica%203\reglin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Regress&#227;o%20linear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pt-BR"/>
              <a:t>Regressão linear y(x)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Y</c:v>
          </c:tx>
          <c:spPr>
            <a:ln w="28575">
              <a:noFill/>
            </a:ln>
          </c:spPr>
          <c:marker>
            <c:symbol val="circle"/>
            <c:size val="2"/>
            <c:spPr>
              <a:ln>
                <a:solidFill>
                  <a:schemeClr val="tx1"/>
                </a:solidFill>
              </a:ln>
            </c:spPr>
          </c:marker>
          <c:dLbls>
            <c:delete val="1"/>
          </c:dLbls>
          <c:errBars>
            <c:errDir val="y"/>
            <c:errBarType val="both"/>
            <c:errValType val="cust"/>
            <c:noEndCap val="0"/>
            <c:plus>
              <c:numRef>
                <c:f>Plan1!$C$2:$C$12</c:f>
                <c:numCache>
                  <c:formatCode>General</c:formatCode>
                  <c:ptCount val="10"/>
                  <c:pt idx="0">
                    <c:v>0.15</c:v>
                  </c:pt>
                  <c:pt idx="1">
                    <c:v>0.15</c:v>
                  </c:pt>
                  <c:pt idx="2">
                    <c:v>0.15</c:v>
                  </c:pt>
                  <c:pt idx="3">
                    <c:v>0.15</c:v>
                  </c:pt>
                  <c:pt idx="4">
                    <c:v>0.15</c:v>
                  </c:pt>
                  <c:pt idx="5">
                    <c:v>0.15</c:v>
                  </c:pt>
                  <c:pt idx="6">
                    <c:v>0.15</c:v>
                  </c:pt>
                  <c:pt idx="7">
                    <c:v>0.15</c:v>
                  </c:pt>
                  <c:pt idx="8">
                    <c:v>0.15</c:v>
                  </c:pt>
                  <c:pt idx="9">
                    <c:v>0.15</c:v>
                  </c:pt>
                </c:numCache>
              </c:numRef>
            </c:plus>
            <c:minus>
              <c:numRef>
                <c:f>Plan1!$C$2:$C$12</c:f>
                <c:numCache>
                  <c:formatCode>General</c:formatCode>
                  <c:ptCount val="10"/>
                  <c:pt idx="0">
                    <c:v>0.15</c:v>
                  </c:pt>
                  <c:pt idx="1">
                    <c:v>0.15</c:v>
                  </c:pt>
                  <c:pt idx="2">
                    <c:v>0.15</c:v>
                  </c:pt>
                  <c:pt idx="3">
                    <c:v>0.15</c:v>
                  </c:pt>
                  <c:pt idx="4">
                    <c:v>0.15</c:v>
                  </c:pt>
                  <c:pt idx="5">
                    <c:v>0.15</c:v>
                  </c:pt>
                  <c:pt idx="6">
                    <c:v>0.15</c:v>
                  </c:pt>
                  <c:pt idx="7">
                    <c:v>0.15</c:v>
                  </c:pt>
                  <c:pt idx="8">
                    <c:v>0.15</c:v>
                  </c:pt>
                  <c:pt idx="9">
                    <c:v>0.15</c:v>
                  </c:pt>
                </c:numCache>
              </c:numRef>
            </c:minus>
          </c:errBars>
          <c:xVal>
            <c:numRef>
              <c:f>Plan1!$A$2:$A$12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Plan1!$B$2:$B$12</c:f>
              <c:numCache>
                <c:formatCode>General</c:formatCode>
                <c:ptCount val="10"/>
                <c:pt idx="0">
                  <c:v>1.06</c:v>
                </c:pt>
                <c:pt idx="1">
                  <c:v>2.19</c:v>
                </c:pt>
                <c:pt idx="2">
                  <c:v>3.12</c:v>
                </c:pt>
                <c:pt idx="3">
                  <c:v>4.12</c:v>
                </c:pt>
                <c:pt idx="4">
                  <c:v>5.32</c:v>
                </c:pt>
                <c:pt idx="5">
                  <c:v>6.31</c:v>
                </c:pt>
                <c:pt idx="6">
                  <c:v>7.55</c:v>
                </c:pt>
                <c:pt idx="7">
                  <c:v>8.11</c:v>
                </c:pt>
                <c:pt idx="8">
                  <c:v>9.1</c:v>
                </c:pt>
                <c:pt idx="9">
                  <c:v>10.23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92C-4673-9F36-C703B639F6B9}"/>
            </c:ext>
          </c:extLst>
        </c:ser>
        <c:ser>
          <c:idx val="1"/>
          <c:order val="1"/>
          <c:tx>
            <c:v>y(x)</c:v>
          </c:tx>
          <c:spPr>
            <a:ln w="28575">
              <a:noFill/>
            </a:ln>
          </c:spPr>
          <c:marker>
            <c:symbol val="none"/>
          </c:marker>
          <c:dLbls>
            <c:delete val="1"/>
          </c:dLbls>
          <c:trendline>
            <c:spPr>
              <a:ln w="6350">
                <a:solidFill>
                  <a:schemeClr val="accent1"/>
                </a:solidFill>
              </a:ln>
            </c:spPr>
            <c:trendlineType val="linear"/>
            <c:dispRSqr val="0"/>
            <c:dispEq val="1"/>
            <c:trendlineLbl>
              <c:layout>
                <c:manualLayout>
                  <c:x val="0.12270253718285214"/>
                  <c:y val="-0.15776641959521012"/>
                </c:manualLayout>
              </c:layout>
              <c:numFmt formatCode="General" sourceLinked="0"/>
            </c:trendlineLbl>
          </c:trendline>
          <c:xVal>
            <c:numRef>
              <c:f>Plan1!$A$2:$A$12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Plan1!$J$2:$J$12</c:f>
              <c:numCache>
                <c:formatCode>General</c:formatCode>
                <c:ptCount val="10"/>
                <c:pt idx="0">
                  <c:v>1.1529090909090902</c:v>
                </c:pt>
                <c:pt idx="1">
                  <c:v>2.1658181818181803</c:v>
                </c:pt>
                <c:pt idx="2">
                  <c:v>3.1787272727272704</c:v>
                </c:pt>
                <c:pt idx="3">
                  <c:v>4.1916363636363601</c:v>
                </c:pt>
                <c:pt idx="4">
                  <c:v>5.2045454545454497</c:v>
                </c:pt>
                <c:pt idx="5">
                  <c:v>6.2174545454545402</c:v>
                </c:pt>
                <c:pt idx="6">
                  <c:v>7.2303636363636299</c:v>
                </c:pt>
                <c:pt idx="7">
                  <c:v>8.2432727272727195</c:v>
                </c:pt>
                <c:pt idx="8">
                  <c:v>9.2561818181818101</c:v>
                </c:pt>
                <c:pt idx="9">
                  <c:v>10.269090909090899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92C-4673-9F36-C703B639F6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78343552"/>
        <c:axId val="78342400"/>
      </c:scatterChart>
      <c:valAx>
        <c:axId val="78343552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pt-BR"/>
                  <a:t>x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tailEnd type="triangle"/>
          </a:ln>
        </c:spPr>
        <c:crossAx val="78342400"/>
        <c:crosses val="autoZero"/>
        <c:crossBetween val="midCat"/>
      </c:valAx>
      <c:valAx>
        <c:axId val="78342400"/>
        <c:scaling>
          <c:orientation val="minMax"/>
        </c:scaling>
        <c:delete val="0"/>
        <c:axPos val="l"/>
        <c:majorGridlines/>
        <c:title>
          <c:tx>
            <c:rich>
              <a:bodyPr rot="0" vert="wordArtVert"/>
              <a:lstStyle/>
              <a:p>
                <a:pPr>
                  <a:defRPr/>
                </a:pPr>
                <a:r>
                  <a:rPr lang="pt-BR"/>
                  <a:t>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tailEnd type="triangle"/>
          </a:ln>
        </c:spPr>
        <c:crossAx val="78343552"/>
        <c:crosses val="autoZero"/>
        <c:crossBetween val="midCat"/>
      </c:valAx>
    </c:plotArea>
    <c:plotVisOnly val="1"/>
    <c:dispBlanksAs val="gap"/>
    <c:showDLblsOverMax val="0"/>
  </c:chart>
  <c:spPr>
    <a:ln>
      <a:solidFill>
        <a:schemeClr val="tx1"/>
      </a:solidFill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pt-BR"/>
              <a:t>Regressão linear y(x)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Y</c:v>
          </c:tx>
          <c:spPr>
            <a:ln w="28575">
              <a:noFill/>
            </a:ln>
          </c:spPr>
          <c:marker>
            <c:symbol val="circle"/>
            <c:size val="2"/>
            <c:spPr>
              <a:ln>
                <a:solidFill>
                  <a:schemeClr val="tx1"/>
                </a:solidFill>
              </a:ln>
            </c:spPr>
          </c:marker>
          <c:dLbls>
            <c:delete val="1"/>
          </c:dLbls>
          <c:errBars>
            <c:errDir val="y"/>
            <c:errBarType val="both"/>
            <c:errValType val="cust"/>
            <c:noEndCap val="0"/>
            <c:plus>
              <c:numRef>
                <c:f>Plan1!$C$2:$C$6</c:f>
                <c:numCache>
                  <c:formatCode>General</c:formatCode>
                  <c:ptCount val="5"/>
                  <c:pt idx="0">
                    <c:v>0.9</c:v>
                  </c:pt>
                  <c:pt idx="1">
                    <c:v>1.4</c:v>
                  </c:pt>
                  <c:pt idx="2">
                    <c:v>1.7</c:v>
                  </c:pt>
                  <c:pt idx="3">
                    <c:v>2</c:v>
                  </c:pt>
                  <c:pt idx="4">
                    <c:v>2.1</c:v>
                  </c:pt>
                </c:numCache>
              </c:numRef>
            </c:plus>
            <c:minus>
              <c:numRef>
                <c:f>Plan1!$C$2:$C$6</c:f>
                <c:numCache>
                  <c:formatCode>General</c:formatCode>
                  <c:ptCount val="5"/>
                  <c:pt idx="0">
                    <c:v>0.9</c:v>
                  </c:pt>
                  <c:pt idx="1">
                    <c:v>1.4</c:v>
                  </c:pt>
                  <c:pt idx="2">
                    <c:v>1.7</c:v>
                  </c:pt>
                  <c:pt idx="3">
                    <c:v>2</c:v>
                  </c:pt>
                  <c:pt idx="4">
                    <c:v>2.1</c:v>
                  </c:pt>
                </c:numCache>
              </c:numRef>
            </c:minus>
          </c:errBars>
          <c:xVal>
            <c:numRef>
              <c:f>Plan1!$A$2:$A$6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</c:numCache>
            </c:numRef>
          </c:xVal>
          <c:yVal>
            <c:numRef>
              <c:f>Plan1!$B$2:$B$6</c:f>
              <c:numCache>
                <c:formatCode>General</c:formatCode>
                <c:ptCount val="5"/>
                <c:pt idx="0">
                  <c:v>4.9000000000000004</c:v>
                </c:pt>
                <c:pt idx="1">
                  <c:v>14.2</c:v>
                </c:pt>
                <c:pt idx="2">
                  <c:v>26.2</c:v>
                </c:pt>
                <c:pt idx="3">
                  <c:v>34.6</c:v>
                </c:pt>
                <c:pt idx="4">
                  <c:v>44.7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20F-4B18-B441-9876B5B5939A}"/>
            </c:ext>
          </c:extLst>
        </c:ser>
        <c:ser>
          <c:idx val="1"/>
          <c:order val="1"/>
          <c:tx>
            <c:v>y(x)</c:v>
          </c:tx>
          <c:spPr>
            <a:ln w="28575">
              <a:noFill/>
            </a:ln>
          </c:spPr>
          <c:marker>
            <c:symbol val="none"/>
          </c:marker>
          <c:dLbls>
            <c:delete val="1"/>
          </c:dLbls>
          <c:trendline>
            <c:spPr>
              <a:ln w="6350">
                <a:solidFill>
                  <a:schemeClr val="accent1"/>
                </a:solidFill>
              </a:ln>
            </c:spPr>
            <c:trendlineType val="linear"/>
            <c:dispRSqr val="0"/>
            <c:dispEq val="1"/>
            <c:trendlineLbl>
              <c:layout>
                <c:manualLayout>
                  <c:x val="0.12270253718285214"/>
                  <c:y val="-0.15776641959521012"/>
                </c:manualLayout>
              </c:layout>
              <c:numFmt formatCode="General" sourceLinked="0"/>
            </c:trendlineLbl>
          </c:trendline>
          <c:xVal>
            <c:numRef>
              <c:f>Plan1!$A$2:$A$6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</c:numCache>
            </c:numRef>
          </c:xVal>
          <c:yVal>
            <c:numRef>
              <c:f>Plan1!$J$2:$J$6</c:f>
              <c:numCache>
                <c:formatCode>General</c:formatCode>
                <c:ptCount val="5"/>
                <c:pt idx="0">
                  <c:v>4.8487118811484358</c:v>
                </c:pt>
                <c:pt idx="1">
                  <c:v>14.885090848173137</c:v>
                </c:pt>
                <c:pt idx="2">
                  <c:v>24.921469815197838</c:v>
                </c:pt>
                <c:pt idx="3">
                  <c:v>34.957848782222541</c:v>
                </c:pt>
                <c:pt idx="4">
                  <c:v>44.994227749247244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20F-4B18-B441-9876B5B593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78343552"/>
        <c:axId val="78342400"/>
      </c:scatterChart>
      <c:valAx>
        <c:axId val="78343552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pt-BR"/>
                  <a:t>x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tailEnd type="triangle"/>
          </a:ln>
        </c:spPr>
        <c:crossAx val="78342400"/>
        <c:crosses val="autoZero"/>
        <c:crossBetween val="midCat"/>
      </c:valAx>
      <c:valAx>
        <c:axId val="78342400"/>
        <c:scaling>
          <c:orientation val="minMax"/>
        </c:scaling>
        <c:delete val="0"/>
        <c:axPos val="l"/>
        <c:majorGridlines/>
        <c:title>
          <c:tx>
            <c:rich>
              <a:bodyPr rot="0" vert="wordArtVert"/>
              <a:lstStyle/>
              <a:p>
                <a:pPr>
                  <a:defRPr/>
                </a:pPr>
                <a:r>
                  <a:rPr lang="pt-BR"/>
                  <a:t>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tailEnd type="triangle"/>
          </a:ln>
        </c:spPr>
        <c:crossAx val="78343552"/>
        <c:crosses val="autoZero"/>
        <c:crossBetween val="midCat"/>
      </c:valAx>
    </c:plotArea>
    <c:plotVisOnly val="1"/>
    <c:dispBlanksAs val="gap"/>
    <c:showDLblsOverMax val="0"/>
  </c:chart>
  <c:spPr>
    <a:ln>
      <a:solidFill>
        <a:schemeClr val="tx1"/>
      </a:solidFill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pt-BR"/>
              <a:t>Regressão linear y(x)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Y</c:v>
          </c:tx>
          <c:spPr>
            <a:ln w="28575">
              <a:noFill/>
            </a:ln>
          </c:spPr>
          <c:marker>
            <c:symbol val="circle"/>
            <c:size val="2"/>
            <c:spPr>
              <a:ln>
                <a:solidFill>
                  <a:schemeClr val="tx1"/>
                </a:solidFill>
              </a:ln>
            </c:spPr>
          </c:marker>
          <c:dLbls>
            <c:delete val="1"/>
          </c:dLbls>
          <c:errBars>
            <c:errDir val="y"/>
            <c:errBarType val="both"/>
            <c:errValType val="cust"/>
            <c:noEndCap val="0"/>
            <c:plus>
              <c:numRef>
                <c:f>Plan1!$C$2:$C$37</c:f>
                <c:numCache>
                  <c:formatCode>General</c:formatCode>
                  <c:ptCount val="36"/>
                  <c:pt idx="0">
                    <c:v>0.15</c:v>
                  </c:pt>
                  <c:pt idx="1">
                    <c:v>0.15</c:v>
                  </c:pt>
                  <c:pt idx="2">
                    <c:v>0.15</c:v>
                  </c:pt>
                  <c:pt idx="3">
                    <c:v>0.15</c:v>
                  </c:pt>
                  <c:pt idx="4">
                    <c:v>0.15</c:v>
                  </c:pt>
                  <c:pt idx="5">
                    <c:v>0.15</c:v>
                  </c:pt>
                  <c:pt idx="9">
                    <c:v>0</c:v>
                  </c:pt>
                  <c:pt idx="10">
                    <c:v>207407.40740740765</c:v>
                  </c:pt>
                  <c:pt idx="11">
                    <c:v>1.1617142857142864</c:v>
                  </c:pt>
                  <c:pt idx="12">
                    <c:v>1.3539999999999985</c:v>
                  </c:pt>
                  <c:pt idx="13">
                    <c:v>3.5856858280031788E-2</c:v>
                  </c:pt>
                  <c:pt idx="14">
                    <c:v>0.13964240043768933</c:v>
                  </c:pt>
                  <c:pt idx="15">
                    <c:v>0.97299290693322105</c:v>
                  </c:pt>
                  <c:pt idx="16">
                    <c:v>9.4877290367811575</c:v>
                  </c:pt>
                  <c:pt idx="17">
                    <c:v>4</c:v>
                  </c:pt>
                  <c:pt idx="18">
                    <c:v>0</c:v>
                  </c:pt>
                </c:numCache>
              </c:numRef>
            </c:plus>
            <c:minus>
              <c:numRef>
                <c:f>Plan1!$C$2:$C$37</c:f>
                <c:numCache>
                  <c:formatCode>General</c:formatCode>
                  <c:ptCount val="36"/>
                  <c:pt idx="0">
                    <c:v>0.15</c:v>
                  </c:pt>
                  <c:pt idx="1">
                    <c:v>0.15</c:v>
                  </c:pt>
                  <c:pt idx="2">
                    <c:v>0.15</c:v>
                  </c:pt>
                  <c:pt idx="3">
                    <c:v>0.15</c:v>
                  </c:pt>
                  <c:pt idx="4">
                    <c:v>0.15</c:v>
                  </c:pt>
                  <c:pt idx="5">
                    <c:v>0.15</c:v>
                  </c:pt>
                  <c:pt idx="9">
                    <c:v>0</c:v>
                  </c:pt>
                  <c:pt idx="10">
                    <c:v>207407.40740740765</c:v>
                  </c:pt>
                  <c:pt idx="11">
                    <c:v>1.1617142857142864</c:v>
                  </c:pt>
                  <c:pt idx="12">
                    <c:v>1.3539999999999985</c:v>
                  </c:pt>
                  <c:pt idx="13">
                    <c:v>3.5856858280031788E-2</c:v>
                  </c:pt>
                  <c:pt idx="14">
                    <c:v>0.13964240043768933</c:v>
                  </c:pt>
                  <c:pt idx="15">
                    <c:v>0.97299290693322105</c:v>
                  </c:pt>
                  <c:pt idx="16">
                    <c:v>9.4877290367811575</c:v>
                  </c:pt>
                  <c:pt idx="17">
                    <c:v>4</c:v>
                  </c:pt>
                  <c:pt idx="18">
                    <c:v>0</c:v>
                  </c:pt>
                </c:numCache>
              </c:numRef>
            </c:minus>
          </c:errBars>
          <c:xVal>
            <c:strRef>
              <c:f>'[Regressão linear.xlsx]Plan1'!$A$2:$A$37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6</c:v>
                </c:pt>
                <c:pt idx="7">
                  <c:v>Contagem</c:v>
                </c:pt>
                <c:pt idx="8">
                  <c:v>Soma</c:v>
                </c:pt>
              </c:strCache>
            </c:strRef>
          </c:xVal>
          <c:yVal>
            <c:numRef>
              <c:f>'[Regressão linear.xlsx]Plan1'!$B$2:$B$37</c:f>
              <c:numCache>
                <c:formatCode>General</c:formatCode>
                <c:ptCount val="36"/>
                <c:pt idx="0">
                  <c:v>2.0699999999999998</c:v>
                </c:pt>
                <c:pt idx="1">
                  <c:v>3.88</c:v>
                </c:pt>
                <c:pt idx="2">
                  <c:v>5.19</c:v>
                </c:pt>
                <c:pt idx="3">
                  <c:v>6.03</c:v>
                </c:pt>
                <c:pt idx="4">
                  <c:v>7.47</c:v>
                </c:pt>
                <c:pt idx="5">
                  <c:v>7.88</c:v>
                </c:pt>
                <c:pt idx="9" formatCode="@">
                  <c:v>0</c:v>
                </c:pt>
                <c:pt idx="10" formatCode="@">
                  <c:v>0</c:v>
                </c:pt>
                <c:pt idx="11" formatCode="@">
                  <c:v>0</c:v>
                </c:pt>
                <c:pt idx="12" formatCode="@">
                  <c:v>0</c:v>
                </c:pt>
                <c:pt idx="13" formatCode="@">
                  <c:v>0</c:v>
                </c:pt>
                <c:pt idx="14" formatCode="@">
                  <c:v>0</c:v>
                </c:pt>
                <c:pt idx="15" formatCode="@">
                  <c:v>0</c:v>
                </c:pt>
                <c:pt idx="16" formatCode="@">
                  <c:v>0</c:v>
                </c:pt>
                <c:pt idx="17">
                  <c:v>0</c:v>
                </c:pt>
                <c:pt idx="18" formatCode="@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66A-46F0-9DDE-01437ACB29DC}"/>
            </c:ext>
          </c:extLst>
        </c:ser>
        <c:ser>
          <c:idx val="1"/>
          <c:order val="1"/>
          <c:tx>
            <c:v>y(x)</c:v>
          </c:tx>
          <c:spPr>
            <a:ln w="28575">
              <a:noFill/>
            </a:ln>
          </c:spPr>
          <c:marker>
            <c:symbol val="none"/>
          </c:marker>
          <c:dLbls>
            <c:delete val="1"/>
          </c:dLbls>
          <c:trendline>
            <c:spPr>
              <a:ln w="6350">
                <a:solidFill>
                  <a:schemeClr val="accent1"/>
                </a:solidFill>
              </a:ln>
            </c:spPr>
            <c:trendlineType val="linear"/>
            <c:dispRSqr val="0"/>
            <c:dispEq val="1"/>
            <c:trendlineLbl>
              <c:layout>
                <c:manualLayout>
                  <c:x val="0.12270253718285214"/>
                  <c:y val="-0.15776641959521012"/>
                </c:manualLayout>
              </c:layout>
              <c:numFmt formatCode="General" sourceLinked="0"/>
            </c:trendlineLbl>
          </c:trendline>
          <c:xVal>
            <c:strRef>
              <c:f>'[Regressão linear.xlsx]Plan1'!$A$2:$A$37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6</c:v>
                </c:pt>
                <c:pt idx="7">
                  <c:v>Contagem</c:v>
                </c:pt>
                <c:pt idx="8">
                  <c:v>Soma</c:v>
                </c:pt>
              </c:strCache>
            </c:strRef>
          </c:xVal>
          <c:yVal>
            <c:numRef>
              <c:f>'[Regressão linear.xlsx]Plan1'!$J$2:$J$37</c:f>
              <c:numCache>
                <c:formatCode>General</c:formatCode>
                <c:ptCount val="36"/>
                <c:pt idx="0">
                  <c:v>2.5157142857142851</c:v>
                </c:pt>
                <c:pt idx="1">
                  <c:v>3.677428571428571</c:v>
                </c:pt>
                <c:pt idx="2">
                  <c:v>4.8391428571428579</c:v>
                </c:pt>
                <c:pt idx="3">
                  <c:v>6.0008571428571438</c:v>
                </c:pt>
                <c:pt idx="4">
                  <c:v>7.1625714285714297</c:v>
                </c:pt>
                <c:pt idx="5">
                  <c:v>8.3242857142857165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66A-46F0-9DDE-01437ACB29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78343552"/>
        <c:axId val="78342400"/>
      </c:scatterChart>
      <c:valAx>
        <c:axId val="78343552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pt-BR"/>
                  <a:t>x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tailEnd type="triangle"/>
          </a:ln>
        </c:spPr>
        <c:crossAx val="78342400"/>
        <c:crosses val="autoZero"/>
        <c:crossBetween val="midCat"/>
      </c:valAx>
      <c:valAx>
        <c:axId val="78342400"/>
        <c:scaling>
          <c:orientation val="minMax"/>
        </c:scaling>
        <c:delete val="0"/>
        <c:axPos val="l"/>
        <c:majorGridlines/>
        <c:title>
          <c:tx>
            <c:rich>
              <a:bodyPr rot="0" vert="wordArtVert"/>
              <a:lstStyle/>
              <a:p>
                <a:pPr>
                  <a:defRPr/>
                </a:pPr>
                <a:r>
                  <a:rPr lang="pt-BR"/>
                  <a:t>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tailEnd type="triangle"/>
          </a:ln>
        </c:spPr>
        <c:crossAx val="78343552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emf"/><Relationship Id="rId4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5" Type="http://schemas.openxmlformats.org/officeDocument/2006/relationships/image" Target="../media/image41.emf"/><Relationship Id="rId4" Type="http://schemas.openxmlformats.org/officeDocument/2006/relationships/image" Target="../media/image4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7" Type="http://schemas.openxmlformats.org/officeDocument/2006/relationships/image" Target="../media/image47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F333CAE-3051-405F-9815-403B38A9F0E2}" type="datetimeFigureOut">
              <a:rPr lang="pt-BR"/>
              <a:pPr>
                <a:defRPr/>
              </a:pPr>
              <a:t>30/03/2022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72A0749-083D-4B40-B33D-8396E5BE16F3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29802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512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A7379DA-4334-4D9D-BEEA-439E2C83C529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pt-B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9A7A00-A1DB-4A7B-8DBF-B6BDF020B8A5}" type="datetimeFigureOut">
              <a:rPr lang="pt-BR"/>
              <a:pPr>
                <a:defRPr/>
              </a:pPr>
              <a:t>30/03/2022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1A80EE-27E9-4956-924A-37971F09422A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695333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FFD76-2D84-48D6-899B-20C8FFA44721}" type="datetimeFigureOut">
              <a:rPr lang="pt-BR"/>
              <a:pPr>
                <a:defRPr/>
              </a:pPr>
              <a:t>30/03/2022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0696A0-E3FC-43CD-ADB0-24A8F7F9C046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568397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B2700-4622-489D-8870-5A9485C7C872}" type="datetimeFigureOut">
              <a:rPr lang="pt-BR"/>
              <a:pPr>
                <a:defRPr/>
              </a:pPr>
              <a:t>30/03/2022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72E90A-912B-4F67-BEED-1A2D3D1DA7F2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2130303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B303A-1BD5-4C75-8286-86A727C153D7}" type="datetimeFigureOut">
              <a:rPr lang="pt-BR"/>
              <a:pPr>
                <a:defRPr/>
              </a:pPr>
              <a:t>30/03/2022</a:t>
            </a:fld>
            <a:endParaRPr lang="pt-BR" dirty="0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201DE-2155-40F5-8902-8F617025273B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07407067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18F0D7-AE74-453C-837C-43FFFF324B05}" type="datetimeFigureOut">
              <a:rPr lang="pt-BR"/>
              <a:pPr>
                <a:defRPr/>
              </a:pPr>
              <a:t>30/03/2022</a:t>
            </a:fld>
            <a:endParaRPr lang="pt-BR" dirty="0"/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EA525-8F11-42C8-8B67-CA7DC51BCBCE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3889188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51AF3E-91CF-4CB9-9031-4DD54271F0DC}" type="datetimeFigureOut">
              <a:rPr lang="pt-BR"/>
              <a:pPr>
                <a:defRPr/>
              </a:pPr>
              <a:t>30/03/2022</a:t>
            </a:fld>
            <a:endParaRPr lang="pt-BR" dirty="0"/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040FCF-B951-45C8-8BA6-E66F13F2E9EE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823373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C4440F-3CD9-400F-A640-A0ABC835E78F}" type="datetimeFigureOut">
              <a:rPr lang="pt-BR"/>
              <a:pPr>
                <a:defRPr/>
              </a:pPr>
              <a:t>30/03/2022</a:t>
            </a:fld>
            <a:endParaRPr lang="pt-BR" dirty="0"/>
          </a:p>
        </p:txBody>
      </p:sp>
      <p:sp>
        <p:nvSpPr>
          <p:cNvPr id="3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56397-F60E-42A8-B6DB-79AD30DCE6F6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86043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134621-3085-4D20-8A7E-39C9F0CD52E2}" type="datetimeFigureOut">
              <a:rPr lang="pt-BR"/>
              <a:pPr>
                <a:defRPr/>
              </a:pPr>
              <a:t>30/03/2022</a:t>
            </a:fld>
            <a:endParaRPr lang="pt-BR" dirty="0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05B80E-EA4D-4237-B36F-5D21FE4F1439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45615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792A15-5D6E-4103-B149-2A91160F0218}" type="datetimeFigureOut">
              <a:rPr lang="pt-BR"/>
              <a:pPr>
                <a:defRPr/>
              </a:pPr>
              <a:t>30/03/2022</a:t>
            </a:fld>
            <a:endParaRPr lang="pt-BR" dirty="0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66E234-8157-4217-9791-0C4835859C58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005554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1E129-9423-4DA6-8DB8-ABB73952BFCE}" type="datetimeFigureOut">
              <a:rPr lang="pt-BR"/>
              <a:pPr>
                <a:defRPr/>
              </a:pPr>
              <a:t>30/03/2022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3F25B-993F-4429-8D99-AE7BC1653B00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8064578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6453A5-9A68-4F68-BCBA-FA8FCFBA3E1E}" type="datetimeFigureOut">
              <a:rPr lang="pt-BR"/>
              <a:pPr>
                <a:defRPr/>
              </a:pPr>
              <a:t>30/03/2022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FE0FB1-DB48-497B-8F43-796D2B08433F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709321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B00D9B4-D4EA-4FE5-A62A-67944960B9C4}" type="datetimeFigureOut">
              <a:rPr lang="pt-BR"/>
              <a:pPr>
                <a:defRPr/>
              </a:pPr>
              <a:t>30/03/2022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FA5B430-EDB7-4C16-9F3D-1431A9CBE0F5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9.emf"/><Relationship Id="rId4" Type="http://schemas.openxmlformats.org/officeDocument/2006/relationships/image" Target="../media/image8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21.wmf"/><Relationship Id="rId4" Type="http://schemas.openxmlformats.org/officeDocument/2006/relationships/image" Target="../media/image23.emf"/><Relationship Id="rId9" Type="http://schemas.openxmlformats.org/officeDocument/2006/relationships/oleObject" Target="../embeddings/oleObject6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3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10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1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33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36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4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23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30.bin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4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7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10" Type="http://schemas.openxmlformats.org/officeDocument/2006/relationships/image" Target="../media/image44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46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5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6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7" Type="http://schemas.openxmlformats.org/officeDocument/2006/relationships/image" Target="../media/image6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2.png"/><Relationship Id="rId5" Type="http://schemas.openxmlformats.org/officeDocument/2006/relationships/image" Target="../media/image71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png"/><Relationship Id="rId4" Type="http://schemas.openxmlformats.org/officeDocument/2006/relationships/image" Target="../media/image7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11.png"/><Relationship Id="rId4" Type="http://schemas.openxmlformats.org/officeDocument/2006/relationships/image" Target="../media/image60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78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dirty="0"/>
              <a:t>Tratamento estatístico de dados experimentais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/>
              <a:t>TRATAMENTO ESTATÍSTICO DE DADOS EM FÍSICA EXPERIMENTAL, O. A. M. </a:t>
            </a:r>
            <a:r>
              <a:rPr lang="pt-BR" dirty="0" err="1"/>
              <a:t>Helene</a:t>
            </a:r>
            <a:r>
              <a:rPr lang="pt-BR" dirty="0"/>
              <a:t> e </a:t>
            </a:r>
            <a:r>
              <a:rPr lang="pt-BR" dirty="0" err="1"/>
              <a:t>Vito</a:t>
            </a:r>
            <a:r>
              <a:rPr lang="pt-BR" dirty="0"/>
              <a:t> R.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pt-BR" dirty="0" err="1"/>
              <a:t>Vanin</a:t>
            </a:r>
            <a:r>
              <a:rPr lang="pt-BR" dirty="0"/>
              <a:t>, Ed. Edgar </a:t>
            </a:r>
            <a:r>
              <a:rPr lang="pt-BR" dirty="0" err="1"/>
              <a:t>Blücher</a:t>
            </a:r>
            <a:r>
              <a:rPr lang="pt-BR" dirty="0"/>
              <a:t> </a:t>
            </a:r>
            <a:r>
              <a:rPr lang="pt-BR" dirty="0" err="1"/>
              <a:t>Ltda</a:t>
            </a:r>
            <a:r>
              <a:rPr lang="pt-BR" dirty="0"/>
              <a:t>, 1981.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PLANO DA AULA</a:t>
            </a:r>
          </a:p>
        </p:txBody>
      </p:sp>
      <p:sp>
        <p:nvSpPr>
          <p:cNvPr id="3075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eaLnBrk="1" hangingPunct="1">
              <a:buFont typeface="Calibri" pitchFamily="34" charset="0"/>
              <a:buAutoNum type="arabicParenR"/>
            </a:pPr>
            <a:r>
              <a:rPr lang="pt-BR" dirty="0"/>
              <a:t>Tipos de erros</a:t>
            </a:r>
          </a:p>
          <a:p>
            <a:pPr marL="514350" indent="-514350" eaLnBrk="1" hangingPunct="1">
              <a:buFont typeface="Calibri" pitchFamily="34" charset="0"/>
              <a:buAutoNum type="arabicParenR"/>
            </a:pPr>
            <a:r>
              <a:rPr lang="pt-BR" dirty="0"/>
              <a:t>Incerteza numa medida direta</a:t>
            </a:r>
          </a:p>
          <a:p>
            <a:pPr marL="514350" indent="-514350" eaLnBrk="1" hangingPunct="1">
              <a:buFont typeface="Calibri" pitchFamily="34" charset="0"/>
              <a:buAutoNum type="arabicParenR"/>
            </a:pPr>
            <a:r>
              <a:rPr lang="pt-BR" dirty="0"/>
              <a:t>Propagação de erros</a:t>
            </a:r>
          </a:p>
          <a:p>
            <a:pPr marL="514350" indent="-514350" eaLnBrk="1" hangingPunct="1">
              <a:buFont typeface="Calibri" pitchFamily="34" charset="0"/>
              <a:buAutoNum type="arabicParenR"/>
            </a:pPr>
            <a:r>
              <a:rPr lang="pt-BR" dirty="0"/>
              <a:t>Método dos mínimos quadrados</a:t>
            </a:r>
          </a:p>
          <a:p>
            <a:pPr marL="514350" indent="-514350" eaLnBrk="1" hangingPunct="1">
              <a:buFont typeface="Calibri" pitchFamily="34" charset="0"/>
              <a:buAutoNum type="arabicParenR"/>
            </a:pPr>
            <a:r>
              <a:rPr lang="pt-BR" dirty="0"/>
              <a:t>Testes de significância</a:t>
            </a:r>
          </a:p>
          <a:p>
            <a:pPr marL="514350" indent="-514350" eaLnBrk="1" hangingPunct="1">
              <a:buFont typeface="Calibri" pitchFamily="34" charset="0"/>
              <a:buAutoNum type="arabicParenR"/>
            </a:pPr>
            <a:r>
              <a:rPr lang="pt-BR" dirty="0"/>
              <a:t>Exercícios / Resoluções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1- Tipos de erro</a:t>
            </a:r>
            <a:endParaRPr lang="pt-BR"/>
          </a:p>
        </p:txBody>
      </p:sp>
      <p:sp>
        <p:nvSpPr>
          <p:cNvPr id="4099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pt-BR"/>
              <a:t>O processo de medidas introduz inevitavelmente erros que não podemos eliminar. Esta incerteza advém tanto das características dos aparelhos empregados como do observador.</a:t>
            </a:r>
          </a:p>
          <a:p>
            <a:pPr>
              <a:buFont typeface="Wingdings" pitchFamily="2" charset="2"/>
              <a:buChar char="Ø"/>
            </a:pPr>
            <a:r>
              <a:rPr lang="pt-BR"/>
              <a:t>Erro é a diferença entre o valor medido e o valor verdadeiro da grandeza.</a:t>
            </a:r>
          </a:p>
          <a:p>
            <a:pPr>
              <a:buFont typeface="Wingdings" pitchFamily="2" charset="2"/>
              <a:buChar char="Ø"/>
            </a:pPr>
            <a:r>
              <a:rPr lang="pt-BR"/>
              <a:t>A experiência mostra que ao se repetir uma observação diversas vezes, os dados obtidos não são idênticos.</a:t>
            </a:r>
          </a:p>
          <a:p>
            <a:pPr>
              <a:buFont typeface="Wingdings" pitchFamily="2" charset="2"/>
              <a:buChar char="Ø"/>
            </a:pPr>
            <a:endParaRPr lang="pt-BR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1.1- Erros sistemáticos</a:t>
            </a:r>
          </a:p>
        </p:txBody>
      </p:sp>
      <p:sp>
        <p:nvSpPr>
          <p:cNvPr id="5123" name="Espaço Reservado para Conteúdo 2"/>
          <p:cNvSpPr>
            <a:spLocks noGrp="1"/>
          </p:cNvSpPr>
          <p:nvPr>
            <p:ph idx="1"/>
          </p:nvPr>
        </p:nvSpPr>
        <p:spPr>
          <a:xfrm>
            <a:off x="0" y="1341438"/>
            <a:ext cx="8893175" cy="4525962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/>
              <a:t>Erros sistemáticos estão relacionados a equipamentos incorretamente calibrados, procedimentos incorretos e falhas conceituais.</a:t>
            </a:r>
          </a:p>
          <a:p>
            <a:pPr>
              <a:buFont typeface="Wingdings" pitchFamily="2" charset="2"/>
              <a:buChar char="Ø"/>
            </a:pPr>
            <a:r>
              <a:rPr lang="pt-BR"/>
              <a:t>As flutuações sistemáticas têm amplitudes regulares e se reproduzem sempre nas mesmas condições, afetando o resultado sempre no mesmo sentido. Por exemplo, uma régua cuja escala esteja dilatada ou um operador que sempre subestime as medidas.  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1.2- Erros acidentais ou aleatórios	</a:t>
            </a:r>
          </a:p>
        </p:txBody>
      </p:sp>
      <p:sp>
        <p:nvSpPr>
          <p:cNvPr id="6147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/>
              <a:t>Os erros acidentais são casuais e estão associados tanto a variações incontroláveis e aleatórias dos instrumentos de medida e das condições externas (temperatura, tensão da rede elétrica, umidade do ar, etc.) como a limitações impostas pelos sentidos do operador.</a:t>
            </a:r>
          </a:p>
          <a:p>
            <a:pPr>
              <a:buFont typeface="Wingdings" pitchFamily="2" charset="2"/>
              <a:buChar char="Ø"/>
            </a:pPr>
            <a:r>
              <a:rPr lang="pt-BR"/>
              <a:t> As flutuações aleatórias podem ocorrer em diversas amplitudes e afetam os resultados em qualquer sentido.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1.2- Erros acidentais ou aleatórios</a:t>
            </a:r>
          </a:p>
        </p:txBody>
      </p:sp>
      <p:sp>
        <p:nvSpPr>
          <p:cNvPr id="7171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/>
              <a:t>Por exemplo, o erro que se comete na avaliação da menor divisão de uma escala é aleatório e ele pode ocorrer tanto para mais como para menos.</a:t>
            </a:r>
          </a:p>
          <a:p>
            <a:pPr>
              <a:buFont typeface="Wingdings" pitchFamily="2" charset="2"/>
              <a:buChar char="Ø"/>
            </a:pPr>
            <a:r>
              <a:rPr lang="pt-BR"/>
              <a:t>Em medições, costuma-se fazer estimativas com aproximações até décimos da menor divisão da escala do instrumento.</a:t>
            </a:r>
          </a:p>
          <a:p>
            <a:pPr>
              <a:buFont typeface="Wingdings" pitchFamily="2" charset="2"/>
              <a:buChar char="Ø"/>
            </a:pPr>
            <a:r>
              <a:rPr lang="pt-BR"/>
              <a:t>Adota-se como erro de leitura a metade da menor divisão da escala do instrumento.</a:t>
            </a:r>
          </a:p>
          <a:p>
            <a:pPr>
              <a:buFont typeface="Wingdings" pitchFamily="2" charset="2"/>
              <a:buChar char="Ø"/>
            </a:pPr>
            <a:endParaRPr lang="pt-BR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/>
              <a:t>1.2- Leitura de uma régua</a:t>
            </a:r>
          </a:p>
        </p:txBody>
      </p:sp>
      <p:pic>
        <p:nvPicPr>
          <p:cNvPr id="8195" name="Picture 2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0063" y="928688"/>
            <a:ext cx="8266112" cy="3387725"/>
          </a:xfrm>
        </p:spPr>
      </p:pic>
      <p:sp>
        <p:nvSpPr>
          <p:cNvPr id="8196" name="Espaço Reservado para Texto 4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r>
              <a:rPr lang="pt-BR" sz="4000"/>
              <a:t>(2,36 ± 0,05) cm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1.3- Tratamento dos erros</a:t>
            </a:r>
          </a:p>
        </p:txBody>
      </p:sp>
      <p:sp>
        <p:nvSpPr>
          <p:cNvPr id="9219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/>
              <a:t>Deve-se adotar um procedimento que proporcione variação das condições externas de modo que cada dado seja obtido independentemente dos demais. Por ex. variar o dia, o local, o observador, os aparelhos e os métodos empregados.</a:t>
            </a:r>
          </a:p>
          <a:p>
            <a:pPr>
              <a:buFont typeface="Wingdings" pitchFamily="2" charset="2"/>
              <a:buChar char="Ø"/>
            </a:pPr>
            <a:r>
              <a:rPr lang="pt-BR"/>
              <a:t>Com isto procura-se garantir que qualquer erro sistemático seja bem menor que o erro estatístico do resultado.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1.3- Tratamento dos erros</a:t>
            </a:r>
          </a:p>
        </p:txBody>
      </p:sp>
      <p:sp>
        <p:nvSpPr>
          <p:cNvPr id="10243" name="Espaço Reservado para Conteúdo 2"/>
          <p:cNvSpPr>
            <a:spLocks noGrp="1"/>
          </p:cNvSpPr>
          <p:nvPr>
            <p:ph idx="1"/>
          </p:nvPr>
        </p:nvSpPr>
        <p:spPr>
          <a:xfrm>
            <a:off x="0" y="1557338"/>
            <a:ext cx="8964613" cy="4525962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/>
              <a:t>Os erros sistemáticos devem ser eliminados mediante cuidados experimentais. Ex: checar a calibragem dos aparelhos e se eles estão sendo usados corretamente.</a:t>
            </a:r>
          </a:p>
          <a:p>
            <a:pPr>
              <a:buFont typeface="Wingdings" pitchFamily="2" charset="2"/>
              <a:buChar char="Ø"/>
            </a:pPr>
            <a:r>
              <a:rPr lang="pt-BR"/>
              <a:t>Os erros aleatórios não podem ser eliminados. No entanto, eles podem ser minimizados mediante um grande número de repetições das observações e um tratamento estatístico do resultado. 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1.4- Precisão e Exatidão (Acurácia)</a:t>
            </a:r>
          </a:p>
        </p:txBody>
      </p:sp>
      <p:pic>
        <p:nvPicPr>
          <p:cNvPr id="1126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2166938"/>
            <a:ext cx="8229600" cy="3392487"/>
          </a:xfr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1.4- Precisão e exatidão (Acurácia)</a:t>
            </a:r>
          </a:p>
        </p:txBody>
      </p:sp>
      <p:sp>
        <p:nvSpPr>
          <p:cNvPr id="12291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/>
              <a:t>A precisão avalia a dispersão dos dados em uma medida.</a:t>
            </a:r>
          </a:p>
          <a:p>
            <a:pPr>
              <a:buFont typeface="Wingdings" pitchFamily="2" charset="2"/>
              <a:buChar char="Ø"/>
            </a:pPr>
            <a:r>
              <a:rPr lang="pt-BR"/>
              <a:t>A inexatidão ou erro avalia a diferença entre o valor medido e o valor verdadeiro de uma grandeza.</a:t>
            </a:r>
          </a:p>
          <a:p>
            <a:pPr>
              <a:buFont typeface="Wingdings" pitchFamily="2" charset="2"/>
              <a:buChar char="Ø"/>
            </a:pPr>
            <a:r>
              <a:rPr lang="pt-BR"/>
              <a:t>Se cuidarmos de eliminar os erros sistemáticos, poderemos estimar o erro cometido numa medida a partir da precisão ou dispersão dos dados.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2- Incerteza numa medida direta</a:t>
            </a:r>
          </a:p>
        </p:txBody>
      </p:sp>
      <p:sp>
        <p:nvSpPr>
          <p:cNvPr id="13315" name="Espaço Reservado para Conteúdo 2"/>
          <p:cNvSpPr>
            <a:spLocks noGrp="1"/>
          </p:cNvSpPr>
          <p:nvPr>
            <p:ph idx="1"/>
          </p:nvPr>
        </p:nvSpPr>
        <p:spPr>
          <a:xfrm>
            <a:off x="531813" y="1412875"/>
            <a:ext cx="8229600" cy="28368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/>
              <a:t>Exemplo: 50 dados de alcance do lançamento horizontal de uma esfera (em cm):</a:t>
            </a:r>
          </a:p>
          <a:p>
            <a:pPr>
              <a:buFont typeface="Wingdings" pitchFamily="2" charset="2"/>
              <a:buChar char="Ø"/>
            </a:pPr>
            <a:endParaRPr lang="pt-BR"/>
          </a:p>
        </p:txBody>
      </p:sp>
      <p:pic>
        <p:nvPicPr>
          <p:cNvPr id="133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2492375"/>
            <a:ext cx="5791200" cy="380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2.1- Histograma</a:t>
            </a:r>
          </a:p>
        </p:txBody>
      </p:sp>
      <p:sp>
        <p:nvSpPr>
          <p:cNvPr id="14339" name="Espaço Reservado para Conteúdo 2"/>
          <p:cNvSpPr>
            <a:spLocks noGrp="1"/>
          </p:cNvSpPr>
          <p:nvPr>
            <p:ph idx="1"/>
          </p:nvPr>
        </p:nvSpPr>
        <p:spPr>
          <a:xfrm>
            <a:off x="538163" y="1263650"/>
            <a:ext cx="8229600" cy="1392238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 sz="2800"/>
              <a:t>Uma maneira comum de representar um conjunto de dados numa medida é por meio de um histograma:</a:t>
            </a:r>
          </a:p>
        </p:txBody>
      </p:sp>
      <p:pic>
        <p:nvPicPr>
          <p:cNvPr id="1434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2060575"/>
            <a:ext cx="4392613" cy="358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41" name="CaixaDeTexto 3"/>
          <p:cNvSpPr txBox="1">
            <a:spLocks noChangeArrowheads="1"/>
          </p:cNvSpPr>
          <p:nvPr/>
        </p:nvSpPr>
        <p:spPr bwMode="auto">
          <a:xfrm>
            <a:off x="755650" y="5645150"/>
            <a:ext cx="75612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pt-BR" sz="2800"/>
              <a:t>A esfera caiu 16% das vezes no intervalo (46,40±0,05) cm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2.2- Distribuição de probabilidade</a:t>
            </a:r>
          </a:p>
        </p:txBody>
      </p:sp>
      <p:sp>
        <p:nvSpPr>
          <p:cNvPr id="1536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 sz="2800"/>
              <a:t>A função que governa a probabilidade de um dado estar num certo intervalo, num histograma, é a densidade de probabilidade.</a:t>
            </a:r>
          </a:p>
          <a:p>
            <a:pPr>
              <a:buFont typeface="Wingdings" pitchFamily="2" charset="2"/>
              <a:buChar char="Ø"/>
            </a:pPr>
            <a:r>
              <a:rPr lang="pt-BR" sz="2800"/>
              <a:t>Nos processos de medição de uma grandeza macroscópica, o resultado da medida depende de um número muito grande de processos aleatórios independentes microscópicos, que se somam no resultado final dando o caráter aleatório à grandeza macroscópica.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2.3-Teorema Central do Limite</a:t>
            </a:r>
          </a:p>
        </p:txBody>
      </p:sp>
      <p:sp>
        <p:nvSpPr>
          <p:cNvPr id="16387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 sz="2800"/>
              <a:t>Sob condições bastante gerais se demonstra que a soma de um número grande de variáveis aleatórias segue uma distribuição normal, independentemente das distribuições individuais das variáveis. Este resultado da estatística, chamado </a:t>
            </a:r>
            <a:r>
              <a:rPr lang="pt-BR" sz="2800" b="1">
                <a:solidFill>
                  <a:srgbClr val="FF0000"/>
                </a:solidFill>
              </a:rPr>
              <a:t>teorema central do limite</a:t>
            </a:r>
            <a:r>
              <a:rPr lang="pt-BR" sz="2800"/>
              <a:t>, dá fundamento teórico à suposição que os cientistas experimentais geralmente fazem de que os resultados de medidas seguem uma distribuição normal.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2.4-Distribuição normal</a:t>
            </a:r>
          </a:p>
        </p:txBody>
      </p:sp>
      <p:pic>
        <p:nvPicPr>
          <p:cNvPr id="1741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1412875"/>
            <a:ext cx="3671888" cy="1060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276475"/>
            <a:ext cx="7489825" cy="107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3" name="Imagem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3068638"/>
            <a:ext cx="7453313" cy="3725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ítulo 1"/>
          <p:cNvSpPr>
            <a:spLocks noGrp="1"/>
          </p:cNvSpPr>
          <p:nvPr>
            <p:ph type="title"/>
          </p:nvPr>
        </p:nvSpPr>
        <p:spPr>
          <a:xfrm>
            <a:off x="428625" y="274638"/>
            <a:ext cx="8229600" cy="1143000"/>
          </a:xfrm>
        </p:spPr>
        <p:txBody>
          <a:bodyPr/>
          <a:lstStyle/>
          <a:p>
            <a:r>
              <a:rPr lang="pt-BR" sz="3600"/>
              <a:t>2.5-Média e desvio padrão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0825" y="1412875"/>
            <a:ext cx="8686800" cy="257175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/>
              <a:t>   Numa amostra com N dados {x</a:t>
            </a:r>
            <a:r>
              <a:rPr lang="pt-BR" baseline="-25000"/>
              <a:t>i</a:t>
            </a:r>
            <a:r>
              <a:rPr lang="pt-BR"/>
              <a:t>}, o valor que melhor representa a grandeza é a média:</a:t>
            </a:r>
          </a:p>
          <a:p>
            <a:pPr>
              <a:buFont typeface="Wingdings" pitchFamily="2" charset="2"/>
              <a:buChar char="Ø"/>
            </a:pPr>
            <a:endParaRPr lang="pt-BR"/>
          </a:p>
          <a:p>
            <a:pPr>
              <a:buFont typeface="Arial" charset="0"/>
              <a:buNone/>
            </a:pPr>
            <a:r>
              <a:rPr lang="pt-BR"/>
              <a:t>      (1)  </a:t>
            </a:r>
          </a:p>
          <a:p>
            <a:pPr>
              <a:buFont typeface="Arial" charset="0"/>
              <a:buNone/>
            </a:pPr>
            <a:endParaRPr lang="pt-BR"/>
          </a:p>
          <a:p>
            <a:pPr>
              <a:buFont typeface="Arial" charset="0"/>
              <a:buNone/>
            </a:pPr>
            <a:r>
              <a:rPr lang="pt-BR"/>
              <a:t>               </a:t>
            </a:r>
          </a:p>
        </p:txBody>
      </p:sp>
      <p:sp>
        <p:nvSpPr>
          <p:cNvPr id="53249" name="Rectangle 1"/>
          <p:cNvSpPr>
            <a:spLocks noChangeArrowheads="1"/>
          </p:cNvSpPr>
          <p:nvPr/>
        </p:nvSpPr>
        <p:spPr bwMode="auto">
          <a:xfrm>
            <a:off x="0" y="4625975"/>
            <a:ext cx="9324975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indent="450850" eaLnBrk="0" hangingPunct="0">
              <a:buFont typeface="Wingdings" pitchFamily="2" charset="2"/>
              <a:buChar char="Ø"/>
            </a:pPr>
            <a:r>
              <a:rPr lang="pt-BR" sz="3200">
                <a:latin typeface="Calibri" pitchFamily="34" charset="0"/>
                <a:cs typeface="Times New Roman" pitchFamily="18" charset="0"/>
              </a:rPr>
              <a:t>A dispersão dos dados da amostra é dada pelo devio padrão:</a:t>
            </a:r>
          </a:p>
          <a:p>
            <a:pPr indent="450850" eaLnBrk="0" hangingPunct="0"/>
            <a:r>
              <a:rPr lang="pt-BR" sz="3200">
                <a:latin typeface="Calibri" pitchFamily="34" charset="0"/>
                <a:sym typeface="Symbol" pitchFamily="18" charset="2"/>
              </a:rPr>
              <a:t>     (2)  </a:t>
            </a:r>
          </a:p>
          <a:p>
            <a:pPr indent="450850" eaLnBrk="0" hangingPunct="0"/>
            <a:endParaRPr lang="pt-BR" sz="2400">
              <a:latin typeface="Calibri" pitchFamily="34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843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graphicFrame>
        <p:nvGraphicFramePr>
          <p:cNvPr id="53256" name="Object 8"/>
          <p:cNvGraphicFramePr>
            <a:graphicFrameLocks noChangeAspect="1"/>
          </p:cNvGraphicFramePr>
          <p:nvPr/>
        </p:nvGraphicFramePr>
        <p:xfrm>
          <a:off x="1773238" y="2924175"/>
          <a:ext cx="6626225" cy="140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5" name="Equação" r:id="rId3" imgW="2019300" imgH="431800" progId="Equation.3">
                  <p:embed/>
                </p:oleObj>
              </mc:Choice>
              <mc:Fallback>
                <p:oleObj name="Equação" r:id="rId3" imgW="2019300" imgH="431800" progId="Equation.3">
                  <p:embed/>
                  <p:pic>
                    <p:nvPicPr>
                      <p:cNvPr id="5325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3238" y="2924175"/>
                        <a:ext cx="6626225" cy="1406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18440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pic>
        <p:nvPicPr>
          <p:cNvPr id="18441" name="Picture 1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5422900"/>
            <a:ext cx="4692650" cy="112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53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324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2.6-Estimativa dos parâmetros da População</a:t>
            </a:r>
          </a:p>
        </p:txBody>
      </p:sp>
      <p:sp>
        <p:nvSpPr>
          <p:cNvPr id="3" name="Espaço Reservado para Conteúdo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 rotWithShape="1">
            <a:blip r:embed="rId2"/>
            <a:stretch>
              <a:fillRect l="-1259" t="-1213" r="-1185" b="-5795"/>
            </a:stretch>
          </a:blipFill>
        </p:spPr>
        <p:txBody>
          <a:bodyPr/>
          <a:lstStyle/>
          <a:p>
            <a:pPr>
              <a:defRPr/>
            </a:pPr>
            <a:r>
              <a:rPr lang="pt-BR">
                <a:noFill/>
              </a:rPr>
              <a:t> 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2.7-Desvio padrão da média</a:t>
            </a:r>
          </a:p>
        </p:txBody>
      </p:sp>
      <p:sp>
        <p:nvSpPr>
          <p:cNvPr id="3" name="Espaço Reservado para Conteúdo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 rotWithShape="1">
            <a:blip r:embed="rId2"/>
            <a:stretch>
              <a:fillRect l="-1259" t="-1213"/>
            </a:stretch>
          </a:blipFill>
        </p:spPr>
        <p:txBody>
          <a:bodyPr/>
          <a:lstStyle/>
          <a:p>
            <a:pPr>
              <a:defRPr/>
            </a:pPr>
            <a:r>
              <a:rPr lang="pt-BR">
                <a:noFill/>
              </a:rPr>
              <a:t> 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2.8-A distribuição t de Student</a:t>
            </a:r>
          </a:p>
        </p:txBody>
      </p:sp>
      <p:sp>
        <p:nvSpPr>
          <p:cNvPr id="21507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900238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 sz="2800"/>
              <a:t>É possível mostrar que a distribuição de probabilidade de uma grandeza física, para uma </a:t>
            </a:r>
            <a:r>
              <a:rPr lang="pt-BR" sz="2800" b="1"/>
              <a:t>amostra finita</a:t>
            </a:r>
            <a:r>
              <a:rPr lang="pt-BR" sz="2800"/>
              <a:t>, é uma </a:t>
            </a:r>
            <a:r>
              <a:rPr lang="pt-BR" sz="2800">
                <a:solidFill>
                  <a:srgbClr val="FF0000"/>
                </a:solidFill>
              </a:rPr>
              <a:t>distribuição t de </a:t>
            </a:r>
            <a:r>
              <a:rPr lang="pt-BR" sz="2800"/>
              <a:t>Student, que é mais larga do que a normal (df=N-1):</a:t>
            </a:r>
          </a:p>
        </p:txBody>
      </p:sp>
      <p:pic>
        <p:nvPicPr>
          <p:cNvPr id="21508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3429000"/>
            <a:ext cx="4176713" cy="334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2.9-O fator t de Student</a:t>
            </a:r>
          </a:p>
        </p:txBody>
      </p:sp>
      <p:sp>
        <p:nvSpPr>
          <p:cNvPr id="3" name="Espaço Reservado para Conteúdo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 rotWithShape="1">
            <a:blip r:embed="rId2"/>
            <a:stretch>
              <a:fillRect l="-1259" t="-1213"/>
            </a:stretch>
          </a:blipFill>
        </p:spPr>
        <p:txBody>
          <a:bodyPr/>
          <a:lstStyle/>
          <a:p>
            <a:pPr>
              <a:defRPr/>
            </a:pPr>
            <a:r>
              <a:rPr lang="pt-BR">
                <a:noFill/>
              </a:rPr>
              <a:t> 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/>
        </p:nvGraphicFramePr>
        <p:xfrm>
          <a:off x="2627784" y="3011760"/>
          <a:ext cx="312000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0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blipFill rotWithShape="1">
                      <a:blip r:embed="rId3"/>
                      <a:stretch>
                        <a:fillRect l="-100000" t="-10667" b="-730667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blipFill rotWithShape="1">
                      <a:blip r:embed="rId3"/>
                      <a:stretch>
                        <a:fillRect t="-710667" r="-100000" b="-30667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68,3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2.10-O fator t de Student</a:t>
            </a:r>
          </a:p>
        </p:txBody>
      </p:sp>
      <p:sp>
        <p:nvSpPr>
          <p:cNvPr id="3" name="Espaço Reservado para Conteúdo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 rotWithShape="1">
            <a:blip r:embed="rId2"/>
            <a:stretch>
              <a:fillRect l="-1259" t="-1213" r="-1926"/>
            </a:stretch>
          </a:blipFill>
        </p:spPr>
        <p:txBody>
          <a:bodyPr/>
          <a:lstStyle/>
          <a:p>
            <a:pPr>
              <a:defRPr/>
            </a:pPr>
            <a:r>
              <a:rPr lang="pt-BR">
                <a:noFill/>
              </a:rPr>
              <a:t> 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2699792" y="2996952"/>
          <a:ext cx="3120008" cy="3760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0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024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blipFill rotWithShape="1">
                      <a:blip r:embed="rId3"/>
                      <a:stretch>
                        <a:fillRect l="-100391" t="-10390" b="-727273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024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1,84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024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1,32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024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1,20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024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1,14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024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1,06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024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1,03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024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blipFill rotWithShape="1">
                      <a:blip r:embed="rId3"/>
                      <a:stretch>
                        <a:fillRect l="-391" t="-710390" r="-100000" b="-27273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2.10 – Erro de calibração</a:t>
            </a:r>
          </a:p>
        </p:txBody>
      </p:sp>
      <p:sp>
        <p:nvSpPr>
          <p:cNvPr id="3" name="Espaço Reservado para Conteúdo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467544" y="1268760"/>
            <a:ext cx="8229600" cy="4525963"/>
          </a:xfrm>
          <a:blipFill rotWithShape="1">
            <a:blip r:embed="rId2"/>
            <a:stretch>
              <a:fillRect l="-1704" t="-1750" r="-2667" b="-14536"/>
            </a:stretch>
          </a:blipFill>
        </p:spPr>
        <p:txBody>
          <a:bodyPr/>
          <a:lstStyle/>
          <a:p>
            <a:pPr>
              <a:defRPr/>
            </a:pPr>
            <a:r>
              <a:rPr lang="pt-BR">
                <a:noFill/>
              </a:rPr>
              <a:t> 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/>
              <a:t>3- Propagação de erros</a:t>
            </a:r>
          </a:p>
        </p:txBody>
      </p:sp>
      <p:sp>
        <p:nvSpPr>
          <p:cNvPr id="2560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/>
              <a:t>Muitas grandezas físicas são medidas indiretamente. O resultado de uma medição indireta de uma dada grandeza se obtém a partir de cálculos com medidas diretas de outras grandezas, com as quais aquela esteja relacionada.</a:t>
            </a:r>
          </a:p>
          <a:p>
            <a:pPr>
              <a:buFont typeface="Wingdings" pitchFamily="2" charset="2"/>
              <a:buChar char="Ø"/>
            </a:pPr>
            <a:r>
              <a:rPr lang="pt-BR"/>
              <a:t>Este resultado não pode ser mais preciso que qualquer das medições diretas efetuadas. </a:t>
            </a: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3.1 – Fórmulas</a:t>
            </a:r>
          </a:p>
        </p:txBody>
      </p:sp>
      <p:pic>
        <p:nvPicPr>
          <p:cNvPr id="2662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" y="1844675"/>
            <a:ext cx="9020175" cy="379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4-Ajuste visual x Método dos mínimos quadrados</a:t>
            </a:r>
          </a:p>
        </p:txBody>
      </p:sp>
      <p:sp>
        <p:nvSpPr>
          <p:cNvPr id="27651" name="Rectangle 5"/>
          <p:cNvSpPr txBox="1">
            <a:spLocks noChangeArrowheads="1"/>
          </p:cNvSpPr>
          <p:nvPr/>
        </p:nvSpPr>
        <p:spPr bwMode="auto">
          <a:xfrm>
            <a:off x="457200" y="1600200"/>
            <a:ext cx="4038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lang="pt-BR" sz="2600">
                <a:latin typeface="Calibri" pitchFamily="34" charset="0"/>
              </a:rPr>
              <a:t>Depende de quem analisa</a:t>
            </a:r>
          </a:p>
          <a:p>
            <a:pPr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lang="pt-BR" sz="2600">
                <a:latin typeface="Calibri" pitchFamily="34" charset="0"/>
              </a:rPr>
              <a:t>É difícil de ponderar dados com incertezas diferentes</a:t>
            </a:r>
          </a:p>
          <a:p>
            <a:pPr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lang="pt-BR" sz="2600">
                <a:latin typeface="Calibri" pitchFamily="34" charset="0"/>
              </a:rPr>
              <a:t>Não é otimizado</a:t>
            </a:r>
          </a:p>
          <a:p>
            <a:pPr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lang="pt-BR" sz="2600">
                <a:latin typeface="Calibri" pitchFamily="34" charset="0"/>
              </a:rPr>
              <a:t>Bom para estimativas</a:t>
            </a:r>
          </a:p>
        </p:txBody>
      </p:sp>
      <p:sp>
        <p:nvSpPr>
          <p:cNvPr id="27652" name="Rectangle 6"/>
          <p:cNvSpPr txBox="1">
            <a:spLocks noChangeArrowheads="1"/>
          </p:cNvSpPr>
          <p:nvPr/>
        </p:nvSpPr>
        <p:spPr bwMode="auto">
          <a:xfrm>
            <a:off x="4648200" y="1600200"/>
            <a:ext cx="4038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lang="pt-BR" sz="2600">
                <a:latin typeface="Calibri" pitchFamily="34" charset="0"/>
              </a:rPr>
              <a:t>Independe de quem analisa</a:t>
            </a:r>
          </a:p>
          <a:p>
            <a:pPr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lang="pt-BR" sz="2600">
                <a:latin typeface="Calibri" pitchFamily="34" charset="0"/>
              </a:rPr>
              <a:t>A incerteza dos dados é ponderada</a:t>
            </a:r>
          </a:p>
          <a:p>
            <a:pPr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lang="pt-BR" sz="2600">
                <a:latin typeface="Calibri" pitchFamily="34" charset="0"/>
              </a:rPr>
              <a:t>É o ajuste que mais se aproxima dos dados</a:t>
            </a:r>
          </a:p>
          <a:p>
            <a:pPr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lang="pt-BR" sz="2600">
                <a:latin typeface="Calibri" pitchFamily="34" charset="0"/>
              </a:rPr>
              <a:t>Mais cálculos (PC)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/>
              <a:t>4-Método dos mínimos quadrados</a:t>
            </a:r>
          </a:p>
        </p:txBody>
      </p:sp>
      <p:sp>
        <p:nvSpPr>
          <p:cNvPr id="28675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965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 sz="2800"/>
              <a:t>A relação funcional que melhor se ajusta a um conjunto de dados experimentais é </a:t>
            </a:r>
            <a:r>
              <a:rPr lang="pt-BR" sz="2800">
                <a:solidFill>
                  <a:srgbClr val="FF0000"/>
                </a:solidFill>
              </a:rPr>
              <a:t>a mais provável</a:t>
            </a:r>
            <a:r>
              <a:rPr lang="pt-BR" sz="2800"/>
              <a:t>!</a:t>
            </a:r>
          </a:p>
        </p:txBody>
      </p:sp>
      <p:pic>
        <p:nvPicPr>
          <p:cNvPr id="2867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2693988"/>
            <a:ext cx="4194175" cy="267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677" name="CaixaDeTexto 3"/>
          <p:cNvSpPr txBox="1">
            <a:spLocks noChangeArrowheads="1"/>
          </p:cNvSpPr>
          <p:nvPr/>
        </p:nvSpPr>
        <p:spPr bwMode="auto">
          <a:xfrm>
            <a:off x="1908175" y="2852738"/>
            <a:ext cx="517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f(x)</a:t>
            </a:r>
          </a:p>
        </p:txBody>
      </p:sp>
      <p:sp>
        <p:nvSpPr>
          <p:cNvPr id="28678" name="CaixaDeTexto 4"/>
          <p:cNvSpPr txBox="1">
            <a:spLocks noChangeArrowheads="1"/>
          </p:cNvSpPr>
          <p:nvPr/>
        </p:nvSpPr>
        <p:spPr bwMode="auto">
          <a:xfrm>
            <a:off x="4508500" y="5516563"/>
            <a:ext cx="3000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x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/>
              <a:t>4.1-Princípio da máxima probabilidade</a:t>
            </a:r>
          </a:p>
        </p:txBody>
      </p:sp>
      <p:sp>
        <p:nvSpPr>
          <p:cNvPr id="3" name="Espaço Reservado para Conteúdo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467544" y="1268760"/>
            <a:ext cx="8229600" cy="5256584"/>
          </a:xfrm>
          <a:blipFill rotWithShape="1">
            <a:blip r:embed="rId2"/>
            <a:stretch>
              <a:fillRect l="-1333" t="-1044"/>
            </a:stretch>
          </a:blipFill>
        </p:spPr>
        <p:txBody>
          <a:bodyPr/>
          <a:lstStyle/>
          <a:p>
            <a:pPr>
              <a:defRPr/>
            </a:pPr>
            <a:r>
              <a:rPr lang="pt-BR">
                <a:noFill/>
              </a:rPr>
              <a:t> </a:t>
            </a: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/>
              <a:t>4.1-Princípio da máxima probabilidade</a:t>
            </a:r>
          </a:p>
        </p:txBody>
      </p:sp>
      <p:sp>
        <p:nvSpPr>
          <p:cNvPr id="3" name="Espaço Reservado para Conteúdo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457200" y="1600201"/>
            <a:ext cx="8229600" cy="676672"/>
          </a:xfrm>
          <a:blipFill rotWithShape="1">
            <a:blip r:embed="rId3"/>
            <a:stretch>
              <a:fillRect l="-1259" t="-8108" b="-1802"/>
            </a:stretch>
          </a:blipFill>
        </p:spPr>
        <p:txBody>
          <a:bodyPr/>
          <a:lstStyle/>
          <a:p>
            <a:pPr>
              <a:defRPr/>
            </a:pPr>
            <a:r>
              <a:rPr lang="pt-BR">
                <a:noFill/>
              </a:rPr>
              <a:t> </a:t>
            </a:r>
          </a:p>
        </p:txBody>
      </p:sp>
      <p:graphicFrame>
        <p:nvGraphicFramePr>
          <p:cNvPr id="30724" name="Objeto 3"/>
          <p:cNvGraphicFramePr>
            <a:graphicFrameLocks noChangeAspect="1"/>
          </p:cNvGraphicFramePr>
          <p:nvPr/>
        </p:nvGraphicFramePr>
        <p:xfrm>
          <a:off x="2268538" y="2205038"/>
          <a:ext cx="3587750" cy="1319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3" name="Equação" r:id="rId4" imgW="1384300" imgH="508000" progId="Equation.3">
                  <p:embed/>
                </p:oleObj>
              </mc:Choice>
              <mc:Fallback>
                <p:oleObj name="Equação" r:id="rId4" imgW="1384300" imgH="508000" progId="Equation.3">
                  <p:embed/>
                  <p:pic>
                    <p:nvPicPr>
                      <p:cNvPr id="3072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205038"/>
                        <a:ext cx="3587750" cy="1319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4787900" y="2636838"/>
          <a:ext cx="2865438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7" name="Equação" r:id="rId3" imgW="1076425" imgH="466815" progId="Equation.3">
                  <p:embed/>
                </p:oleObj>
              </mc:Choice>
              <mc:Fallback>
                <p:oleObj name="Equação" r:id="rId3" imgW="1076425" imgH="466815" progId="Equation.3">
                  <p:embed/>
                  <p:pic>
                    <p:nvPicPr>
                      <p:cNvPr id="1433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2636838"/>
                        <a:ext cx="2865438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3"/>
          <p:cNvGraphicFramePr>
            <a:graphicFrameLocks noChangeAspect="1"/>
          </p:cNvGraphicFramePr>
          <p:nvPr/>
        </p:nvGraphicFramePr>
        <p:xfrm>
          <a:off x="1042988" y="4652963"/>
          <a:ext cx="5457825" cy="1347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8" name="Equação" r:id="rId5" imgW="2057400" imgH="508000" progId="Equation.3">
                  <p:embed/>
                </p:oleObj>
              </mc:Choice>
              <mc:Fallback>
                <p:oleObj name="Equação" r:id="rId5" imgW="2057400" imgH="508000" progId="Equation.3">
                  <p:embed/>
                  <p:pic>
                    <p:nvPicPr>
                      <p:cNvPr id="143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652963"/>
                        <a:ext cx="5457825" cy="1347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8" name="Text Box 8"/>
          <p:cNvSpPr txBox="1">
            <a:spLocks noChangeArrowheads="1"/>
          </p:cNvSpPr>
          <p:nvPr/>
        </p:nvSpPr>
        <p:spPr bwMode="auto">
          <a:xfrm>
            <a:off x="468313" y="260350"/>
            <a:ext cx="8218487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 sz="4200">
                <a:solidFill>
                  <a:schemeClr val="tx2"/>
                </a:solidFill>
                <a:latin typeface="Garamond" pitchFamily="18" charset="0"/>
              </a:rPr>
              <a:t>Caso 1: Ajuste de uma constante</a:t>
            </a:r>
          </a:p>
        </p:txBody>
      </p:sp>
      <p:sp>
        <p:nvSpPr>
          <p:cNvPr id="31749" name="Text Box 13"/>
          <p:cNvSpPr txBox="1">
            <a:spLocks noChangeArrowheads="1"/>
          </p:cNvSpPr>
          <p:nvPr/>
        </p:nvSpPr>
        <p:spPr bwMode="auto">
          <a:xfrm>
            <a:off x="323850" y="4292600"/>
            <a:ext cx="1466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Minimizando</a:t>
            </a:r>
          </a:p>
        </p:txBody>
      </p:sp>
      <p:graphicFrame>
        <p:nvGraphicFramePr>
          <p:cNvPr id="31750" name="Object 10"/>
          <p:cNvGraphicFramePr>
            <a:graphicFrameLocks noChangeAspect="1"/>
          </p:cNvGraphicFramePr>
          <p:nvPr/>
        </p:nvGraphicFramePr>
        <p:xfrm>
          <a:off x="6062663" y="1341438"/>
          <a:ext cx="1579562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9" name="Equação" r:id="rId7" imgW="609600" imgH="228600" progId="Equation.3">
                  <p:embed/>
                </p:oleObj>
              </mc:Choice>
              <mc:Fallback>
                <p:oleObj name="Equação" r:id="rId7" imgW="609600" imgH="228600" progId="Equation.3">
                  <p:embed/>
                  <p:pic>
                    <p:nvPicPr>
                      <p:cNvPr id="3175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2663" y="1341438"/>
                        <a:ext cx="1579562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Object 11"/>
          <p:cNvGraphicFramePr>
            <a:graphicFrameLocks noChangeAspect="1"/>
          </p:cNvGraphicFramePr>
          <p:nvPr/>
        </p:nvGraphicFramePr>
        <p:xfrm>
          <a:off x="611188" y="1052513"/>
          <a:ext cx="3587750" cy="1319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0" name="Equação" r:id="rId9" imgW="1384300" imgH="508000" progId="Equation.3">
                  <p:embed/>
                </p:oleObj>
              </mc:Choice>
              <mc:Fallback>
                <p:oleObj name="Equação" r:id="rId9" imgW="1384300" imgH="508000" progId="Equation.3">
                  <p:embed/>
                  <p:pic>
                    <p:nvPicPr>
                      <p:cNvPr id="3175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052513"/>
                        <a:ext cx="3587750" cy="1319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2" name="Line 12"/>
          <p:cNvSpPr>
            <a:spLocks noChangeShapeType="1"/>
          </p:cNvSpPr>
          <p:nvPr/>
        </p:nvSpPr>
        <p:spPr bwMode="auto">
          <a:xfrm>
            <a:off x="4140200" y="2205038"/>
            <a:ext cx="1368425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1753" name="Line 13"/>
          <p:cNvSpPr>
            <a:spLocks noChangeShapeType="1"/>
          </p:cNvSpPr>
          <p:nvPr/>
        </p:nvSpPr>
        <p:spPr bwMode="auto">
          <a:xfrm flipH="1">
            <a:off x="5580063" y="2133600"/>
            <a:ext cx="1079500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1754" name="Rectangle 14"/>
          <p:cNvSpPr>
            <a:spLocks noChangeArrowheads="1"/>
          </p:cNvSpPr>
          <p:nvPr/>
        </p:nvSpPr>
        <p:spPr bwMode="auto">
          <a:xfrm>
            <a:off x="468313" y="1628775"/>
            <a:ext cx="4038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pt-BR" sz="260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pt-BR" sz="260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pt-BR" sz="2600"/>
              <a:t>Como achar o mínimo de uma função?</a:t>
            </a:r>
          </a:p>
          <a:p>
            <a:pPr marL="669925" lvl="1" indent="-325438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</a:pPr>
            <a:r>
              <a:rPr lang="pt-BR" sz="2200"/>
              <a:t>Quais os parâmetros a?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611188" y="2565400"/>
          <a:ext cx="2897187" cy="123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1" name="Equação" r:id="rId3" imgW="1129810" imgH="482391" progId="Equation.3">
                  <p:embed/>
                </p:oleObj>
              </mc:Choice>
              <mc:Fallback>
                <p:oleObj name="Equação" r:id="rId3" imgW="1129810" imgH="482391" progId="Equation.3">
                  <p:embed/>
                  <p:pic>
                    <p:nvPicPr>
                      <p:cNvPr id="174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565400"/>
                        <a:ext cx="2897187" cy="1236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5508625" y="1844675"/>
          <a:ext cx="3384550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2" name="Equação" r:id="rId5" imgW="1320800" imgH="508000" progId="Equation.3">
                  <p:embed/>
                </p:oleObj>
              </mc:Choice>
              <mc:Fallback>
                <p:oleObj name="Equação" r:id="rId5" imgW="1320800" imgH="508000" progId="Equation.3">
                  <p:embed/>
                  <p:pic>
                    <p:nvPicPr>
                      <p:cNvPr id="174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1844675"/>
                        <a:ext cx="3384550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6"/>
          <p:cNvGraphicFramePr>
            <a:graphicFrameLocks noChangeAspect="1"/>
          </p:cNvGraphicFramePr>
          <p:nvPr/>
        </p:nvGraphicFramePr>
        <p:xfrm>
          <a:off x="6443663" y="3644900"/>
          <a:ext cx="2084387" cy="244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3" name="Equação" r:id="rId7" imgW="812447" imgH="952087" progId="Equation.3">
                  <p:embed/>
                </p:oleObj>
              </mc:Choice>
              <mc:Fallback>
                <p:oleObj name="Equação" r:id="rId7" imgW="812447" imgH="952087" progId="Equation.3">
                  <p:embed/>
                  <p:pic>
                    <p:nvPicPr>
                      <p:cNvPr id="174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3644900"/>
                        <a:ext cx="2084387" cy="244157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9" name="Text Box 11"/>
          <p:cNvSpPr txBox="1">
            <a:spLocks noChangeArrowheads="1"/>
          </p:cNvSpPr>
          <p:nvPr/>
        </p:nvSpPr>
        <p:spPr bwMode="auto">
          <a:xfrm>
            <a:off x="5508625" y="6237288"/>
            <a:ext cx="3527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 b="1">
                <a:solidFill>
                  <a:srgbClr val="FF3300"/>
                </a:solidFill>
                <a:latin typeface="Times New Roman" pitchFamily="18" charset="0"/>
              </a:rPr>
              <a:t>É a média ponderada!!!</a:t>
            </a:r>
            <a:endParaRPr lang="pt-BR" sz="2400" b="1">
              <a:solidFill>
                <a:srgbClr val="FF3300"/>
              </a:solidFill>
              <a:latin typeface="Times New Roman" pitchFamily="18" charset="0"/>
            </a:endParaRPr>
          </a:p>
        </p:txBody>
      </p:sp>
      <p:graphicFrame>
        <p:nvGraphicFramePr>
          <p:cNvPr id="17420" name="Object 12"/>
          <p:cNvGraphicFramePr>
            <a:graphicFrameLocks noChangeAspect="1"/>
          </p:cNvGraphicFramePr>
          <p:nvPr/>
        </p:nvGraphicFramePr>
        <p:xfrm>
          <a:off x="395288" y="4221163"/>
          <a:ext cx="4264025" cy="123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4" name="Equação" r:id="rId9" imgW="1663700" imgH="482600" progId="Equation.3">
                  <p:embed/>
                </p:oleObj>
              </mc:Choice>
              <mc:Fallback>
                <p:oleObj name="Equação" r:id="rId9" imgW="1663700" imgH="482600" progId="Equation.3">
                  <p:embed/>
                  <p:pic>
                    <p:nvPicPr>
                      <p:cNvPr id="1742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221163"/>
                        <a:ext cx="4264025" cy="1236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3"/>
          <p:cNvGraphicFramePr>
            <a:graphicFrameLocks noChangeAspect="1"/>
          </p:cNvGraphicFramePr>
          <p:nvPr/>
        </p:nvGraphicFramePr>
        <p:xfrm>
          <a:off x="611188" y="981075"/>
          <a:ext cx="4543425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5" name="Equação" r:id="rId11" imgW="1828800" imgH="482600" progId="Equation.3">
                  <p:embed/>
                </p:oleObj>
              </mc:Choice>
              <mc:Fallback>
                <p:oleObj name="Equação" r:id="rId11" imgW="1828800" imgH="482600" progId="Equation.3">
                  <p:embed/>
                  <p:pic>
                    <p:nvPicPr>
                      <p:cNvPr id="143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981075"/>
                        <a:ext cx="4543425" cy="119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6" name="Text Box 8"/>
          <p:cNvSpPr txBox="1">
            <a:spLocks noChangeArrowheads="1"/>
          </p:cNvSpPr>
          <p:nvPr/>
        </p:nvSpPr>
        <p:spPr bwMode="auto">
          <a:xfrm>
            <a:off x="468313" y="260350"/>
            <a:ext cx="8218487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 sz="4200">
                <a:solidFill>
                  <a:schemeClr val="tx2"/>
                </a:solidFill>
                <a:latin typeface="Garamond" pitchFamily="18" charset="0"/>
              </a:rPr>
              <a:t>Caso 1: Ajuste de uma constante</a:t>
            </a:r>
          </a:p>
        </p:txBody>
      </p:sp>
      <p:sp>
        <p:nvSpPr>
          <p:cNvPr id="32777" name="Line 13"/>
          <p:cNvSpPr>
            <a:spLocks noChangeShapeType="1"/>
          </p:cNvSpPr>
          <p:nvPr/>
        </p:nvSpPr>
        <p:spPr bwMode="auto">
          <a:xfrm flipV="1">
            <a:off x="4572000" y="3068638"/>
            <a:ext cx="720725" cy="8651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9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1139825"/>
          </a:xfrm>
        </p:spPr>
        <p:txBody>
          <a:bodyPr/>
          <a:lstStyle/>
          <a:p>
            <a:pPr eaLnBrk="1" hangingPunct="1"/>
            <a:r>
              <a:rPr lang="pt-BR"/>
              <a:t>Caso 2: Ajuste de uma Reta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628775"/>
            <a:ext cx="4038600" cy="4530725"/>
          </a:xfrm>
        </p:spPr>
        <p:txBody>
          <a:bodyPr/>
          <a:lstStyle/>
          <a:p>
            <a:pPr eaLnBrk="1" hangingPunct="1"/>
            <a:r>
              <a:rPr lang="pt-BR" sz="2600"/>
              <a:t>Nosso Caso!</a:t>
            </a:r>
          </a:p>
          <a:p>
            <a:pPr eaLnBrk="1" hangingPunct="1"/>
            <a:endParaRPr lang="pt-BR" sz="2600"/>
          </a:p>
          <a:p>
            <a:pPr eaLnBrk="1" hangingPunct="1"/>
            <a:endParaRPr lang="pt-BR" sz="2600"/>
          </a:p>
          <a:p>
            <a:pPr eaLnBrk="1" hangingPunct="1"/>
            <a:r>
              <a:rPr lang="pt-BR" sz="2600"/>
              <a:t>Como achar o mínimo de uma função?</a:t>
            </a:r>
          </a:p>
          <a:p>
            <a:pPr lvl="1" eaLnBrk="1" hangingPunct="1"/>
            <a:r>
              <a:rPr lang="pt-BR" sz="2200"/>
              <a:t>Quais os parâmetros a e b que minimizam?</a:t>
            </a:r>
          </a:p>
        </p:txBody>
      </p:sp>
      <p:graphicFrame>
        <p:nvGraphicFramePr>
          <p:cNvPr id="33796" name="Object 4"/>
          <p:cNvGraphicFramePr>
            <a:graphicFrameLocks noChangeAspect="1"/>
          </p:cNvGraphicFramePr>
          <p:nvPr/>
        </p:nvGraphicFramePr>
        <p:xfrm>
          <a:off x="4859338" y="1700213"/>
          <a:ext cx="3587750" cy="1319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5" name="Equação" r:id="rId3" imgW="1384300" imgH="508000" progId="Equation.3">
                  <p:embed/>
                </p:oleObj>
              </mc:Choice>
              <mc:Fallback>
                <p:oleObj name="Equação" r:id="rId3" imgW="1384300" imgH="508000" progId="Equation.3">
                  <p:embed/>
                  <p:pic>
                    <p:nvPicPr>
                      <p:cNvPr id="337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1700213"/>
                        <a:ext cx="3587750" cy="1319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5"/>
          <p:cNvGraphicFramePr>
            <a:graphicFrameLocks noChangeAspect="1"/>
          </p:cNvGraphicFramePr>
          <p:nvPr/>
        </p:nvGraphicFramePr>
        <p:xfrm>
          <a:off x="827088" y="2349500"/>
          <a:ext cx="2401887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6" name="Equação" r:id="rId5" imgW="927100" imgH="228600" progId="Equation.3">
                  <p:embed/>
                </p:oleObj>
              </mc:Choice>
              <mc:Fallback>
                <p:oleObj name="Equação" r:id="rId5" imgW="927100" imgH="228600" progId="Equation.3">
                  <p:embed/>
                  <p:pic>
                    <p:nvPicPr>
                      <p:cNvPr id="337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349500"/>
                        <a:ext cx="2401887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Freeform 6"/>
          <p:cNvSpPr>
            <a:spLocks/>
          </p:cNvSpPr>
          <p:nvPr/>
        </p:nvSpPr>
        <p:spPr bwMode="auto">
          <a:xfrm>
            <a:off x="3348038" y="1125538"/>
            <a:ext cx="4452937" cy="1320800"/>
          </a:xfrm>
          <a:custGeom>
            <a:avLst/>
            <a:gdLst>
              <a:gd name="T0" fmla="*/ 0 w 2805"/>
              <a:gd name="T1" fmla="*/ 2147483647 h 832"/>
              <a:gd name="T2" fmla="*/ 2147483647 w 2805"/>
              <a:gd name="T3" fmla="*/ 2147483647 h 832"/>
              <a:gd name="T4" fmla="*/ 2147483647 w 2805"/>
              <a:gd name="T5" fmla="*/ 2147483647 h 832"/>
              <a:gd name="T6" fmla="*/ 2147483647 w 2805"/>
              <a:gd name="T7" fmla="*/ 2147483647 h 83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805" h="832">
                <a:moveTo>
                  <a:pt x="0" y="832"/>
                </a:moveTo>
                <a:cubicBezTo>
                  <a:pt x="91" y="650"/>
                  <a:pt x="182" y="469"/>
                  <a:pt x="590" y="333"/>
                </a:cubicBezTo>
                <a:cubicBezTo>
                  <a:pt x="998" y="197"/>
                  <a:pt x="2095" y="0"/>
                  <a:pt x="2450" y="15"/>
                </a:cubicBezTo>
                <a:cubicBezTo>
                  <a:pt x="2805" y="30"/>
                  <a:pt x="2699" y="340"/>
                  <a:pt x="2722" y="42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799" name="Line 7"/>
          <p:cNvSpPr>
            <a:spLocks noChangeShapeType="1"/>
          </p:cNvSpPr>
          <p:nvPr/>
        </p:nvSpPr>
        <p:spPr bwMode="auto">
          <a:xfrm>
            <a:off x="6516688" y="3068638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33800" name="Object 8"/>
          <p:cNvGraphicFramePr>
            <a:graphicFrameLocks noChangeAspect="1"/>
          </p:cNvGraphicFramePr>
          <p:nvPr/>
        </p:nvGraphicFramePr>
        <p:xfrm>
          <a:off x="4572000" y="3573463"/>
          <a:ext cx="4014788" cy="1319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7" name="Equação" r:id="rId7" imgW="1549400" imgH="508000" progId="Equation.3">
                  <p:embed/>
                </p:oleObj>
              </mc:Choice>
              <mc:Fallback>
                <p:oleObj name="Equação" r:id="rId7" imgW="1549400" imgH="508000" progId="Equation.3">
                  <p:embed/>
                  <p:pic>
                    <p:nvPicPr>
                      <p:cNvPr id="338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573463"/>
                        <a:ext cx="4014788" cy="1319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0"/>
          <p:cNvSpPr txBox="1">
            <a:spLocks noChangeArrowheads="1"/>
          </p:cNvSpPr>
          <p:nvPr/>
        </p:nvSpPr>
        <p:spPr bwMode="auto">
          <a:xfrm>
            <a:off x="468313" y="1125538"/>
            <a:ext cx="191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Minimizando a ...</a:t>
            </a:r>
          </a:p>
        </p:txBody>
      </p:sp>
      <p:graphicFrame>
        <p:nvGraphicFramePr>
          <p:cNvPr id="121867" name="Object 11"/>
          <p:cNvGraphicFramePr>
            <a:graphicFrameLocks noChangeAspect="1"/>
          </p:cNvGraphicFramePr>
          <p:nvPr/>
        </p:nvGraphicFramePr>
        <p:xfrm>
          <a:off x="611188" y="1484313"/>
          <a:ext cx="6805612" cy="1347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29" name="Equação" r:id="rId3" imgW="2565400" imgH="508000" progId="Equation.3">
                  <p:embed/>
                </p:oleObj>
              </mc:Choice>
              <mc:Fallback>
                <p:oleObj name="Equação" r:id="rId3" imgW="2565400" imgH="508000" progId="Equation.3">
                  <p:embed/>
                  <p:pic>
                    <p:nvPicPr>
                      <p:cNvPr id="12186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484313"/>
                        <a:ext cx="6805612" cy="1347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8" name="Object 12"/>
          <p:cNvGraphicFramePr>
            <a:graphicFrameLocks noChangeAspect="1"/>
          </p:cNvGraphicFramePr>
          <p:nvPr/>
        </p:nvGraphicFramePr>
        <p:xfrm>
          <a:off x="250825" y="2997200"/>
          <a:ext cx="4546600" cy="128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0" name="Equação" r:id="rId5" imgW="1714500" imgH="482600" progId="Equation.3">
                  <p:embed/>
                </p:oleObj>
              </mc:Choice>
              <mc:Fallback>
                <p:oleObj name="Equação" r:id="rId5" imgW="1714500" imgH="482600" progId="Equation.3">
                  <p:embed/>
                  <p:pic>
                    <p:nvPicPr>
                      <p:cNvPr id="12186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997200"/>
                        <a:ext cx="4546600" cy="1281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21" name="Group 14"/>
          <p:cNvGrpSpPr>
            <a:grpSpLocks/>
          </p:cNvGrpSpPr>
          <p:nvPr/>
        </p:nvGrpSpPr>
        <p:grpSpPr bwMode="auto">
          <a:xfrm>
            <a:off x="2843213" y="4581525"/>
            <a:ext cx="4824412" cy="1223963"/>
            <a:chOff x="1701" y="3022"/>
            <a:chExt cx="3039" cy="771"/>
          </a:xfrm>
        </p:grpSpPr>
        <p:sp>
          <p:nvSpPr>
            <p:cNvPr id="34823" name="Rectangle 13"/>
            <p:cNvSpPr>
              <a:spLocks noChangeArrowheads="1"/>
            </p:cNvSpPr>
            <p:nvPr/>
          </p:nvSpPr>
          <p:spPr bwMode="auto">
            <a:xfrm>
              <a:off x="1701" y="3022"/>
              <a:ext cx="3039" cy="771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34824" name="Object 14"/>
            <p:cNvGraphicFramePr>
              <a:graphicFrameLocks noChangeAspect="1"/>
            </p:cNvGraphicFramePr>
            <p:nvPr/>
          </p:nvGraphicFramePr>
          <p:xfrm>
            <a:off x="1756" y="3022"/>
            <a:ext cx="2794" cy="7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31" name="Equação" r:id="rId7" imgW="1714500" imgH="457200" progId="Equation.3">
                    <p:embed/>
                  </p:oleObj>
                </mc:Choice>
                <mc:Fallback>
                  <p:oleObj name="Equação" r:id="rId7" imgW="1714500" imgH="457200" progId="Equation.3">
                    <p:embed/>
                    <p:pic>
                      <p:nvPicPr>
                        <p:cNvPr id="34824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6" y="3022"/>
                          <a:ext cx="2794" cy="7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22" name="Rectangle 13"/>
          <p:cNvSpPr>
            <a:spLocks noChangeArrowheads="1"/>
          </p:cNvSpPr>
          <p:nvPr/>
        </p:nvSpPr>
        <p:spPr bwMode="auto">
          <a:xfrm>
            <a:off x="468313" y="260350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pt-BR" sz="4200">
                <a:solidFill>
                  <a:schemeClr val="tx2"/>
                </a:solidFill>
                <a:latin typeface="Garamond" pitchFamily="18" charset="0"/>
              </a:rPr>
              <a:t>Caso 2: Ajuste de uma Reta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1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1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19"/>
          <p:cNvSpPr txBox="1">
            <a:spLocks noChangeArrowheads="1"/>
          </p:cNvSpPr>
          <p:nvPr/>
        </p:nvSpPr>
        <p:spPr bwMode="auto">
          <a:xfrm>
            <a:off x="539750" y="1052513"/>
            <a:ext cx="1847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/>
              <a:t>Minimizando b...</a:t>
            </a:r>
          </a:p>
        </p:txBody>
      </p:sp>
      <p:graphicFrame>
        <p:nvGraphicFramePr>
          <p:cNvPr id="15380" name="Object 20"/>
          <p:cNvGraphicFramePr>
            <a:graphicFrameLocks noChangeAspect="1"/>
          </p:cNvGraphicFramePr>
          <p:nvPr/>
        </p:nvGraphicFramePr>
        <p:xfrm>
          <a:off x="684213" y="1576388"/>
          <a:ext cx="6029325" cy="1347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3" name="Equação" r:id="rId3" imgW="2273300" imgH="508000" progId="Equation.3">
                  <p:embed/>
                </p:oleObj>
              </mc:Choice>
              <mc:Fallback>
                <p:oleObj name="Equação" r:id="rId3" imgW="2273300" imgH="508000" progId="Equation.3">
                  <p:embed/>
                  <p:pic>
                    <p:nvPicPr>
                      <p:cNvPr id="1538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576388"/>
                        <a:ext cx="6029325" cy="1347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844" name="Group 14"/>
          <p:cNvGrpSpPr>
            <a:grpSpLocks/>
          </p:cNvGrpSpPr>
          <p:nvPr/>
        </p:nvGrpSpPr>
        <p:grpSpPr bwMode="auto">
          <a:xfrm>
            <a:off x="3348038" y="4292600"/>
            <a:ext cx="4751387" cy="1584325"/>
            <a:chOff x="1708" y="2976"/>
            <a:chExt cx="2993" cy="998"/>
          </a:xfrm>
        </p:grpSpPr>
        <p:graphicFrame>
          <p:nvGraphicFramePr>
            <p:cNvPr id="35846" name="Object 16"/>
            <p:cNvGraphicFramePr>
              <a:graphicFrameLocks noChangeAspect="1"/>
            </p:cNvGraphicFramePr>
            <p:nvPr/>
          </p:nvGraphicFramePr>
          <p:xfrm>
            <a:off x="1837" y="3067"/>
            <a:ext cx="2628" cy="7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154" name="Equação" r:id="rId5" imgW="1612900" imgH="444500" progId="Equation.3">
                    <p:embed/>
                  </p:oleObj>
                </mc:Choice>
                <mc:Fallback>
                  <p:oleObj name="Equação" r:id="rId5" imgW="1612900" imgH="444500" progId="Equation.3">
                    <p:embed/>
                    <p:pic>
                      <p:nvPicPr>
                        <p:cNvPr id="35846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7" y="3067"/>
                          <a:ext cx="2628" cy="7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47" name="Rectangle 21"/>
            <p:cNvSpPr>
              <a:spLocks noChangeArrowheads="1"/>
            </p:cNvSpPr>
            <p:nvPr/>
          </p:nvSpPr>
          <p:spPr bwMode="auto">
            <a:xfrm>
              <a:off x="1708" y="2976"/>
              <a:ext cx="2993" cy="998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35845" name="Rectangle 11"/>
          <p:cNvSpPr>
            <a:spLocks noChangeArrowheads="1"/>
          </p:cNvSpPr>
          <p:nvPr/>
        </p:nvSpPr>
        <p:spPr bwMode="auto">
          <a:xfrm>
            <a:off x="468313" y="260350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pt-BR" sz="4200">
                <a:solidFill>
                  <a:schemeClr val="tx2"/>
                </a:solidFill>
                <a:latin typeface="Garamond" pitchFamily="18" charset="0"/>
              </a:rPr>
              <a:t>Caso 2: Ajuste de uma Reta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61" name="Object 29"/>
          <p:cNvGraphicFramePr>
            <a:graphicFrameLocks noChangeAspect="1"/>
          </p:cNvGraphicFramePr>
          <p:nvPr/>
        </p:nvGraphicFramePr>
        <p:xfrm>
          <a:off x="2051050" y="3933825"/>
          <a:ext cx="4171950" cy="116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7" name="Equação" r:id="rId3" imgW="1612900" imgH="444500" progId="Equation.3">
                  <p:embed/>
                </p:oleObj>
              </mc:Choice>
              <mc:Fallback>
                <p:oleObj name="Equação" r:id="rId3" imgW="1612900" imgH="444500" progId="Equation.3">
                  <p:embed/>
                  <p:pic>
                    <p:nvPicPr>
                      <p:cNvPr id="18461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933825"/>
                        <a:ext cx="4171950" cy="1163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2" name="Object 30"/>
          <p:cNvGraphicFramePr>
            <a:graphicFrameLocks noChangeAspect="1"/>
          </p:cNvGraphicFramePr>
          <p:nvPr/>
        </p:nvGraphicFramePr>
        <p:xfrm>
          <a:off x="1547813" y="1484313"/>
          <a:ext cx="4435475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8" name="Equação" r:id="rId5" imgW="1714500" imgH="457200" progId="Equation.3">
                  <p:embed/>
                </p:oleObj>
              </mc:Choice>
              <mc:Fallback>
                <p:oleObj name="Equação" r:id="rId5" imgW="1714500" imgH="457200" progId="Equation.3">
                  <p:embed/>
                  <p:pic>
                    <p:nvPicPr>
                      <p:cNvPr id="1846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484313"/>
                        <a:ext cx="4435475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4" name="Object 32"/>
          <p:cNvGraphicFramePr>
            <a:graphicFrameLocks noChangeAspect="1"/>
          </p:cNvGraphicFramePr>
          <p:nvPr/>
        </p:nvGraphicFramePr>
        <p:xfrm>
          <a:off x="2843213" y="5734050"/>
          <a:ext cx="3211512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9" name="Equação" r:id="rId7" imgW="1244600" imgH="241300" progId="Equation.3">
                  <p:embed/>
                </p:oleObj>
              </mc:Choice>
              <mc:Fallback>
                <p:oleObj name="Equação" r:id="rId7" imgW="1244600" imgH="241300" progId="Equation.3">
                  <p:embed/>
                  <p:pic>
                    <p:nvPicPr>
                      <p:cNvPr id="18464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5734050"/>
                        <a:ext cx="3211512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5" name="Line 33"/>
          <p:cNvSpPr>
            <a:spLocks noChangeShapeType="1"/>
          </p:cNvSpPr>
          <p:nvPr/>
        </p:nvSpPr>
        <p:spPr bwMode="auto">
          <a:xfrm flipH="1" flipV="1">
            <a:off x="2051050" y="2276475"/>
            <a:ext cx="288925" cy="906463"/>
          </a:xfrm>
          <a:prstGeom prst="line">
            <a:avLst/>
          </a:prstGeom>
          <a:noFill/>
          <a:ln w="38100" cap="rnd">
            <a:solidFill>
              <a:schemeClr val="accent2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66" name="Line 34"/>
          <p:cNvSpPr>
            <a:spLocks noChangeShapeType="1"/>
          </p:cNvSpPr>
          <p:nvPr/>
        </p:nvSpPr>
        <p:spPr bwMode="auto">
          <a:xfrm flipV="1">
            <a:off x="3924300" y="2420938"/>
            <a:ext cx="71438" cy="792162"/>
          </a:xfrm>
          <a:prstGeom prst="line">
            <a:avLst/>
          </a:prstGeom>
          <a:noFill/>
          <a:ln w="38100" cap="rnd">
            <a:solidFill>
              <a:schemeClr val="accent2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67" name="Line 35"/>
          <p:cNvSpPr>
            <a:spLocks noChangeShapeType="1"/>
          </p:cNvSpPr>
          <p:nvPr/>
        </p:nvSpPr>
        <p:spPr bwMode="auto">
          <a:xfrm flipH="1" flipV="1">
            <a:off x="5435600" y="2276475"/>
            <a:ext cx="73025" cy="792163"/>
          </a:xfrm>
          <a:prstGeom prst="line">
            <a:avLst/>
          </a:prstGeom>
          <a:noFill/>
          <a:ln w="38100" cap="rnd">
            <a:solidFill>
              <a:schemeClr val="accent2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18468" name="Object 36"/>
          <p:cNvGraphicFramePr>
            <a:graphicFrameLocks noChangeAspect="1"/>
          </p:cNvGraphicFramePr>
          <p:nvPr/>
        </p:nvGraphicFramePr>
        <p:xfrm>
          <a:off x="2124075" y="3068638"/>
          <a:ext cx="3506788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0" name="Equação" r:id="rId9" imgW="1358310" imgH="241195" progId="Equation.3">
                  <p:embed/>
                </p:oleObj>
              </mc:Choice>
              <mc:Fallback>
                <p:oleObj name="Equação" r:id="rId9" imgW="1358310" imgH="241195" progId="Equation.3">
                  <p:embed/>
                  <p:pic>
                    <p:nvPicPr>
                      <p:cNvPr id="18468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3068638"/>
                        <a:ext cx="3506788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9" name="Line 37"/>
          <p:cNvSpPr>
            <a:spLocks noChangeShapeType="1"/>
          </p:cNvSpPr>
          <p:nvPr/>
        </p:nvSpPr>
        <p:spPr bwMode="auto">
          <a:xfrm flipH="1" flipV="1">
            <a:off x="2627313" y="4652963"/>
            <a:ext cx="573087" cy="1138237"/>
          </a:xfrm>
          <a:prstGeom prst="line">
            <a:avLst/>
          </a:prstGeom>
          <a:noFill/>
          <a:ln w="38100" cap="rnd">
            <a:solidFill>
              <a:schemeClr val="accent2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70" name="Line 38"/>
          <p:cNvSpPr>
            <a:spLocks noChangeShapeType="1"/>
          </p:cNvSpPr>
          <p:nvPr/>
        </p:nvSpPr>
        <p:spPr bwMode="auto">
          <a:xfrm flipH="1" flipV="1">
            <a:off x="4356100" y="4868863"/>
            <a:ext cx="71438" cy="720725"/>
          </a:xfrm>
          <a:prstGeom prst="line">
            <a:avLst/>
          </a:prstGeom>
          <a:noFill/>
          <a:ln w="38100" cap="rnd">
            <a:solidFill>
              <a:schemeClr val="accent2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471" name="Line 39"/>
          <p:cNvSpPr>
            <a:spLocks noChangeShapeType="1"/>
          </p:cNvSpPr>
          <p:nvPr/>
        </p:nvSpPr>
        <p:spPr bwMode="auto">
          <a:xfrm flipH="1" flipV="1">
            <a:off x="5724525" y="4797425"/>
            <a:ext cx="79375" cy="993775"/>
          </a:xfrm>
          <a:prstGeom prst="line">
            <a:avLst/>
          </a:prstGeom>
          <a:noFill/>
          <a:ln w="38100" cap="rnd">
            <a:solidFill>
              <a:schemeClr val="accent2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6876" name="Rectangle 40"/>
          <p:cNvSpPr>
            <a:spLocks noChangeArrowheads="1"/>
          </p:cNvSpPr>
          <p:nvPr/>
        </p:nvSpPr>
        <p:spPr bwMode="auto">
          <a:xfrm>
            <a:off x="1258888" y="1484313"/>
            <a:ext cx="5400675" cy="11525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7" name="Rectangle 41"/>
          <p:cNvSpPr>
            <a:spLocks noChangeArrowheads="1"/>
          </p:cNvSpPr>
          <p:nvPr/>
        </p:nvSpPr>
        <p:spPr bwMode="auto">
          <a:xfrm>
            <a:off x="1765300" y="3860800"/>
            <a:ext cx="4967288" cy="129698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36878" name="Object 43"/>
          <p:cNvGraphicFramePr>
            <a:graphicFrameLocks noChangeAspect="1"/>
          </p:cNvGraphicFramePr>
          <p:nvPr/>
        </p:nvGraphicFramePr>
        <p:xfrm>
          <a:off x="3059113" y="188913"/>
          <a:ext cx="3705225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1" name="Equação" r:id="rId11" imgW="1266937" imgH="418971" progId="Equation.3">
                  <p:embed/>
                </p:oleObj>
              </mc:Choice>
              <mc:Fallback>
                <p:oleObj name="Equação" r:id="rId11" imgW="1266937" imgH="418971" progId="Equation.3">
                  <p:embed/>
                  <p:pic>
                    <p:nvPicPr>
                      <p:cNvPr id="36878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188913"/>
                        <a:ext cx="3705225" cy="131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9" name="Text Box 44"/>
          <p:cNvSpPr txBox="1">
            <a:spLocks noChangeArrowheads="1"/>
          </p:cNvSpPr>
          <p:nvPr/>
        </p:nvSpPr>
        <p:spPr bwMode="auto">
          <a:xfrm>
            <a:off x="539750" y="620713"/>
            <a:ext cx="2362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sz="3200">
                <a:latin typeface="Times New Roman" pitchFamily="18" charset="0"/>
              </a:rPr>
              <a:t>Definindo: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65" grpId="0" animBg="1"/>
      <p:bldP spid="18466" grpId="0" animBg="1"/>
      <p:bldP spid="18467" grpId="0" animBg="1"/>
      <p:bldP spid="18469" grpId="0" animBg="1"/>
      <p:bldP spid="18470" grpId="0" animBg="1"/>
      <p:bldP spid="1847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8" name="Object 10"/>
          <p:cNvGraphicFramePr>
            <a:graphicFrameLocks noChangeAspect="1"/>
          </p:cNvGraphicFramePr>
          <p:nvPr/>
        </p:nvGraphicFramePr>
        <p:xfrm>
          <a:off x="3059113" y="3933825"/>
          <a:ext cx="3629025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1" name="Equação" r:id="rId3" imgW="1079032" imgH="266584" progId="Equation.3">
                  <p:embed/>
                </p:oleObj>
              </mc:Choice>
              <mc:Fallback>
                <p:oleObj name="Equação" r:id="rId3" imgW="1079032" imgH="266584" progId="Equation.3">
                  <p:embed/>
                  <p:pic>
                    <p:nvPicPr>
                      <p:cNvPr id="4505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3933825"/>
                        <a:ext cx="3629025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1" name="Text Box 19"/>
          <p:cNvSpPr txBox="1">
            <a:spLocks noChangeArrowheads="1"/>
          </p:cNvSpPr>
          <p:nvPr/>
        </p:nvSpPr>
        <p:spPr bwMode="auto">
          <a:xfrm>
            <a:off x="1547813" y="4076700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sz="2800">
                <a:latin typeface="Times New Roman" pitchFamily="18" charset="0"/>
              </a:rPr>
              <a:t>Onde:</a:t>
            </a:r>
          </a:p>
        </p:txBody>
      </p:sp>
      <p:graphicFrame>
        <p:nvGraphicFramePr>
          <p:cNvPr id="16405" name="Object 21"/>
          <p:cNvGraphicFramePr>
            <a:graphicFrameLocks noChangeAspect="1"/>
          </p:cNvGraphicFramePr>
          <p:nvPr/>
        </p:nvGraphicFramePr>
        <p:xfrm>
          <a:off x="2700338" y="692150"/>
          <a:ext cx="3211512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2" name="Equação" r:id="rId5" imgW="1244600" imgH="241300" progId="Equation.3">
                  <p:embed/>
                </p:oleObj>
              </mc:Choice>
              <mc:Fallback>
                <p:oleObj name="Equação" r:id="rId5" imgW="1244600" imgH="241300" progId="Equation.3">
                  <p:embed/>
                  <p:pic>
                    <p:nvPicPr>
                      <p:cNvPr id="1640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692150"/>
                        <a:ext cx="3211512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6" name="Object 22"/>
          <p:cNvGraphicFramePr>
            <a:graphicFrameLocks noChangeAspect="1"/>
          </p:cNvGraphicFramePr>
          <p:nvPr/>
        </p:nvGraphicFramePr>
        <p:xfrm>
          <a:off x="2700338" y="1557338"/>
          <a:ext cx="3506787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3" name="Equação" r:id="rId7" imgW="1358310" imgH="241195" progId="Equation.3">
                  <p:embed/>
                </p:oleObj>
              </mc:Choice>
              <mc:Fallback>
                <p:oleObj name="Equação" r:id="rId7" imgW="1358310" imgH="241195" progId="Equation.3">
                  <p:embed/>
                  <p:pic>
                    <p:nvPicPr>
                      <p:cNvPr id="1640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557338"/>
                        <a:ext cx="3506787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7" name="Object 23"/>
          <p:cNvGraphicFramePr>
            <a:graphicFrameLocks noChangeAspect="1"/>
          </p:cNvGraphicFramePr>
          <p:nvPr/>
        </p:nvGraphicFramePr>
        <p:xfrm>
          <a:off x="762000" y="2514600"/>
          <a:ext cx="3324225" cy="135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4" name="Equação" r:id="rId9" imgW="1040948" imgH="418918" progId="Equation.3">
                  <p:embed/>
                </p:oleObj>
              </mc:Choice>
              <mc:Fallback>
                <p:oleObj name="Equação" r:id="rId9" imgW="1040948" imgH="418918" progId="Equation.3">
                  <p:embed/>
                  <p:pic>
                    <p:nvPicPr>
                      <p:cNvPr id="1640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514600"/>
                        <a:ext cx="3324225" cy="1354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8" name="Object 24"/>
          <p:cNvGraphicFramePr>
            <a:graphicFrameLocks noChangeAspect="1"/>
          </p:cNvGraphicFramePr>
          <p:nvPr/>
        </p:nvGraphicFramePr>
        <p:xfrm>
          <a:off x="4724400" y="2362200"/>
          <a:ext cx="3505200" cy="134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5" name="Equação" r:id="rId11" imgW="1104900" imgH="419100" progId="Equation.3">
                  <p:embed/>
                </p:oleObj>
              </mc:Choice>
              <mc:Fallback>
                <p:oleObj name="Equação" r:id="rId11" imgW="1104900" imgH="419100" progId="Equation.3">
                  <p:embed/>
                  <p:pic>
                    <p:nvPicPr>
                      <p:cNvPr id="1640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362200"/>
                        <a:ext cx="3505200" cy="1347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25"/>
          <p:cNvGraphicFramePr>
            <a:graphicFrameLocks noChangeAspect="1"/>
          </p:cNvGraphicFramePr>
          <p:nvPr/>
        </p:nvGraphicFramePr>
        <p:xfrm>
          <a:off x="4643438" y="5157788"/>
          <a:ext cx="1612900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6" name="Equação" r:id="rId13" imgW="583947" imgH="444307" progId="Equation.3">
                  <p:embed/>
                </p:oleObj>
              </mc:Choice>
              <mc:Fallback>
                <p:oleObj name="Equação" r:id="rId13" imgW="583947" imgH="444307" progId="Equation.3">
                  <p:embed/>
                  <p:pic>
                    <p:nvPicPr>
                      <p:cNvPr id="45064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157788"/>
                        <a:ext cx="1612900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5" name="Object 26"/>
          <p:cNvGraphicFramePr>
            <a:graphicFrameLocks noChangeAspect="1"/>
          </p:cNvGraphicFramePr>
          <p:nvPr/>
        </p:nvGraphicFramePr>
        <p:xfrm>
          <a:off x="6781800" y="5105400"/>
          <a:ext cx="1703388" cy="157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7" name="Equação" r:id="rId15" imgW="660400" imgH="457200" progId="Equation.3">
                  <p:embed/>
                </p:oleObj>
              </mc:Choice>
              <mc:Fallback>
                <p:oleObj name="Equação" r:id="rId15" imgW="660400" imgH="457200" progId="Equation.3">
                  <p:embed/>
                  <p:pic>
                    <p:nvPicPr>
                      <p:cNvPr id="45065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105400"/>
                        <a:ext cx="1703388" cy="157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8" name="Text Box 30"/>
          <p:cNvSpPr txBox="1">
            <a:spLocks noChangeArrowheads="1"/>
          </p:cNvSpPr>
          <p:nvPr/>
        </p:nvSpPr>
        <p:spPr bwMode="auto">
          <a:xfrm>
            <a:off x="2051050" y="549275"/>
            <a:ext cx="1524000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sz="9600">
                <a:latin typeface="Times New Roman" pitchFamily="18" charset="0"/>
              </a:rPr>
              <a:t>{</a:t>
            </a:r>
          </a:p>
        </p:txBody>
      </p:sp>
      <p:sp>
        <p:nvSpPr>
          <p:cNvPr id="37899" name="Text Box 31"/>
          <p:cNvSpPr txBox="1">
            <a:spLocks noChangeArrowheads="1"/>
          </p:cNvSpPr>
          <p:nvPr/>
        </p:nvSpPr>
        <p:spPr bwMode="auto">
          <a:xfrm>
            <a:off x="395288" y="173038"/>
            <a:ext cx="7200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sz="2800">
                <a:latin typeface="Times New Roman" pitchFamily="18" charset="0"/>
              </a:rPr>
              <a:t>Sistema de duas equações e duas incógnitas:</a:t>
            </a:r>
          </a:p>
        </p:txBody>
      </p:sp>
      <p:sp>
        <p:nvSpPr>
          <p:cNvPr id="45068" name="Text Box 32"/>
          <p:cNvSpPr txBox="1">
            <a:spLocks noChangeArrowheads="1"/>
          </p:cNvSpPr>
          <p:nvPr/>
        </p:nvSpPr>
        <p:spPr bwMode="auto">
          <a:xfrm>
            <a:off x="374650" y="5229225"/>
            <a:ext cx="3729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 sz="2400"/>
              <a:t>Propagando as incertezas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5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5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50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50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5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5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/>
              <a:t>5.1 – Coeficiente de determinação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itchFamily="2" charset="2"/>
                  <a:buChar char="Ø"/>
                </a:pPr>
                <a:r>
                  <a:rPr lang="pt-BR" sz="2800" dirty="0"/>
                  <a:t>A qualidade do ajuste pode ser medida por</a:t>
                </a:r>
              </a:p>
              <a:p>
                <a:pPr marL="0" indent="0">
                  <a:buNone/>
                </a:pPr>
                <a:r>
                  <a:rPr lang="pt-BR" sz="28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pt-BR" sz="28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800" b="0" i="1" smtClean="0">
                        <a:latin typeface="Cambria Math"/>
                      </a:rPr>
                      <m:t>=1−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sz="28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pt-BR" sz="2800" b="0" i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pt-BR" sz="2800" b="0" i="1" smtClean="0">
                                <a:latin typeface="Cambria Math"/>
                              </a:rPr>
                              <m:t>𝑁</m:t>
                            </m:r>
                          </m:sup>
                          <m:e>
                            <m:f>
                              <m:f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800" b="0" i="1" smtClean="0">
                                                <a:latin typeface="Cambria Math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pt-BR" sz="2800" b="0" i="1" smtClean="0"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pt-BR" sz="2800" b="0" i="1" smtClean="0">
                                            <a:latin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pt-BR" sz="2800" b="0" i="1" smtClean="0">
                                            <a:latin typeface="Cambria Math"/>
                                          </a:rPr>
                                          <m:t>𝑦</m:t>
                                        </m:r>
                                        <m:d>
                                          <m:dPr>
                                            <m:ctrlP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2800" b="0" i="1" smtClean="0">
                                                    <a:latin typeface="Cambria Math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2800" b="0" i="1" smtClean="0">
                                                    <a:latin typeface="Cambria Math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pt-BR" sz="28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800" b="0" i="1" smtClean="0">
                                            <a:latin typeface="Cambria Math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pt-BR" sz="2800" b="0" i="1" smtClean="0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pt-BR" sz="28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sz="28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pt-BR" sz="2800" b="0" i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pt-BR" sz="2800" b="0" i="1" smtClean="0">
                                <a:latin typeface="Cambria Math"/>
                              </a:rPr>
                              <m:t>𝑁</m:t>
                            </m:r>
                          </m:sup>
                          <m:e>
                            <m:f>
                              <m:f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800" b="0" i="1" smtClean="0">
                                                <a:latin typeface="Cambria Math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pt-BR" sz="2800" b="0" i="1" smtClean="0"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pt-BR" sz="2800" b="0" i="1" smtClean="0">
                                            <a:latin typeface="Cambria Math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pt-BR" sz="2800" b="0" i="1" smtClean="0">
                                                <a:latin typeface="Cambria Math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pt-BR" sz="28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800" b="0" i="1" smtClean="0">
                                            <a:latin typeface="Cambria Math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pt-BR" sz="2800" b="0" i="1" smtClean="0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pt-BR" sz="28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den>
                    </m:f>
                  </m:oMath>
                </a14:m>
                <a:r>
                  <a:rPr lang="pt-BR" sz="2800" dirty="0"/>
                  <a:t>, onde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/>
                          </a:rPr>
                          <m:t>𝑦</m:t>
                        </m:r>
                      </m:e>
                    </m:acc>
                    <m:r>
                      <a:rPr lang="pt-BR" sz="28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pt-BR" sz="2800" dirty="0"/>
              </a:p>
              <a:p>
                <a:pPr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/>
                      </a:rPr>
                      <m:t>0</m:t>
                    </m:r>
                    <m:r>
                      <a:rPr lang="pt-BR" sz="2800" b="0" i="1" smtClean="0">
                        <a:latin typeface="Cambria Math"/>
                        <a:ea typeface="Cambria Math"/>
                      </a:rPr>
                      <m:t>≤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/>
                            <a:ea typeface="Cambria Math"/>
                          </a:rPr>
                          <m:t>𝑅</m:t>
                        </m:r>
                      </m:e>
                      <m:sup>
                        <m:r>
                          <a:rPr lang="pt-BR" sz="28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pt-BR" sz="2800" b="0" i="1" smtClean="0">
                        <a:latin typeface="Cambria Math"/>
                        <a:ea typeface="Cambria Math"/>
                      </a:rPr>
                      <m:t>≤1</m:t>
                    </m:r>
                  </m:oMath>
                </a14:m>
                <a:r>
                  <a:rPr lang="pt-BR" sz="2800" dirty="0"/>
                  <a:t> mede a proporção da variação em y que é explicada pelo ajuste</a:t>
                </a:r>
              </a:p>
              <a:p>
                <a:pPr marL="0" indent="0">
                  <a:buNone/>
                </a:pPr>
                <a:r>
                  <a:rPr lang="pt-BR" sz="28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/>
                            <a:ea typeface="Cambria Math"/>
                          </a:rPr>
                          <m:t>𝑅</m:t>
                        </m:r>
                      </m:e>
                      <m:sup>
                        <m:r>
                          <a:rPr lang="pt-BR" sz="28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pt-BR" sz="2800" b="0" i="1" smtClean="0">
                        <a:latin typeface="Cambria Math"/>
                        <a:ea typeface="Cambria Math"/>
                      </a:rPr>
                      <m:t>→1</m:t>
                    </m:r>
                  </m:oMath>
                </a14:m>
                <a:r>
                  <a:rPr lang="pt-BR" sz="2800" dirty="0"/>
                  <a:t>: y está fortemente correlacionado a x</a:t>
                </a:r>
              </a:p>
              <a:p>
                <a:pPr marL="0" indent="0">
                  <a:buNone/>
                </a:pPr>
                <a:r>
                  <a:rPr lang="pt-BR" sz="2800" dirty="0"/>
                  <a:t>	</a:t>
                </a:r>
                <a:r>
                  <a:rPr lang="pt-BR" sz="2800" b="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/>
                            <a:ea typeface="Cambria Math"/>
                          </a:rPr>
                          <m:t>𝑅</m:t>
                        </m:r>
                      </m:e>
                      <m:sup>
                        <m:r>
                          <a:rPr lang="pt-BR" sz="28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pt-BR" sz="2800" b="0" i="1" smtClean="0">
                        <a:latin typeface="Cambria Math"/>
                        <a:ea typeface="Cambria Math"/>
                      </a:rPr>
                      <m:t>→0</m:t>
                    </m:r>
                  </m:oMath>
                </a14:m>
                <a:r>
                  <a:rPr lang="pt-BR" sz="2800" dirty="0"/>
                  <a:t>: y está fracamente correlacionado a x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213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2867707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/>
              <a:t>5.1- Caso da regressão 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itchFamily="2" charset="2"/>
                  <a:buChar char="Ø"/>
                </a:pPr>
                <a:r>
                  <a:rPr lang="pt-BR" sz="2800" dirty="0"/>
                  <a:t>No caso de uma regressão linear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pt-BR" sz="2800" i="1">
                        <a:latin typeface="Cambria Math"/>
                      </a:rPr>
                      <m:t>=</m:t>
                    </m:r>
                    <m:r>
                      <a:rPr lang="pt-BR" sz="2800" i="1">
                        <a:latin typeface="Cambria Math"/>
                      </a:rPr>
                      <m:t>𝑎𝑥</m:t>
                    </m:r>
                    <m:r>
                      <a:rPr lang="pt-BR" sz="2800" i="1">
                        <a:latin typeface="Cambria Math"/>
                      </a:rPr>
                      <m:t>+</m:t>
                    </m:r>
                    <m:r>
                      <a:rPr lang="pt-BR" sz="2800" i="1">
                        <a:latin typeface="Cambria Math"/>
                      </a:rPr>
                      <m:t>𝑏</m:t>
                    </m:r>
                  </m:oMath>
                </a14:m>
                <a:r>
                  <a:rPr lang="pt-BR" sz="2800" dirty="0"/>
                  <a:t>, mostra-se que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pt-BR" sz="28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8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sz="28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pt-BR" sz="2800" b="0" i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pt-BR" sz="2800" b="0" i="1" smtClean="0">
                                <a:latin typeface="Cambria Math"/>
                              </a:rPr>
                              <m:t>𝑁</m:t>
                            </m:r>
                          </m:sup>
                          <m:e>
                            <m:f>
                              <m:f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800" b="0" i="1" smtClean="0">
                                            <a:latin typeface="Cambria Math"/>
                                          </a:rPr>
                                          <m:t>𝑦</m:t>
                                        </m:r>
                                        <m:d>
                                          <m:dPr>
                                            <m:ctrlP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2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2800" b="0" i="1" smtClean="0">
                                                    <a:latin typeface="Cambria Math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2800" b="0" i="1" smtClean="0">
                                                    <a:latin typeface="Cambria Math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pt-BR" sz="2800" b="0" i="1" smtClean="0">
                                            <a:latin typeface="Cambria Math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pt-BR" sz="2800" b="0" i="1" smtClean="0">
                                                <a:latin typeface="Cambria Math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pt-BR" sz="28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800" b="0" i="1" smtClean="0">
                                            <a:latin typeface="Cambria Math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pt-BR" sz="2800" b="0" i="1" smtClean="0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pt-BR" sz="28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sz="28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pt-BR" sz="2800" b="0" i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pt-BR" sz="2800" b="0" i="1" smtClean="0">
                                <a:latin typeface="Cambria Math"/>
                              </a:rPr>
                              <m:t>𝑁</m:t>
                            </m:r>
                          </m:sup>
                          <m:e>
                            <m:f>
                              <m:f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800" b="0" i="1" smtClean="0">
                                                <a:latin typeface="Cambria Math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pt-BR" sz="2800" b="0" i="1" smtClean="0"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pt-BR" sz="2800" b="0" i="1" smtClean="0">
                                            <a:latin typeface="Cambria Math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pt-BR" sz="2800" b="0" i="1" smtClean="0">
                                                <a:latin typeface="Cambria Math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pt-BR" sz="28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800" b="0" i="1" smtClean="0">
                                            <a:latin typeface="Cambria Math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pt-BR" sz="2800" b="0" i="1" smtClean="0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pt-BR" sz="28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den>
                    </m:f>
                  </m:oMath>
                </a14:m>
                <a:endParaRPr lang="pt-BR" sz="2800" dirty="0"/>
              </a:p>
              <a:p>
                <a:pPr>
                  <a:buFont typeface="Wingdings" pitchFamily="2" charset="2"/>
                  <a:buChar char="Ø"/>
                </a:pPr>
                <a:r>
                  <a:rPr lang="pt-BR" sz="2400" dirty="0"/>
                  <a:t>Neste caso, vale que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𝑥𝑦</m:t>
                                    </m:r>
                                  </m:sub>
                                </m:sSub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pt-BR" sz="24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d>
                          <m:d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𝑆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pt-BR" sz="2400" b="0" i="1" smtClean="0">
                                <a:latin typeface="Cambria Math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𝑆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pt-BR" sz="2400" b="0" i="1" smtClean="0">
                                <a:latin typeface="Cambria Math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2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9980746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/>
              <a:t>5.2-Testes de significância</a:t>
            </a:r>
          </a:p>
        </p:txBody>
      </p:sp>
      <p:sp>
        <p:nvSpPr>
          <p:cNvPr id="3" name="Espaço Reservado para Conteúdo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 rotWithShape="1">
            <a:blip r:embed="rId2"/>
            <a:stretch>
              <a:fillRect l="-963" t="-1078"/>
            </a:stretch>
          </a:blipFill>
        </p:spPr>
        <p:txBody>
          <a:bodyPr/>
          <a:lstStyle/>
          <a:p>
            <a:r>
              <a:rPr lang="pt-BR">
                <a:noFill/>
              </a:rPr>
              <a:t> </a:t>
            </a: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sz="3600" dirty="0"/>
                  <a:t>5.2-Distribuição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3600" i="1" smtClean="0">
                            <a:latin typeface="Cambria Math"/>
                          </a:rPr>
                          <m:t>χ</m:t>
                        </m:r>
                      </m:e>
                      <m:sup>
                        <m:r>
                          <a:rPr lang="pt-BR" sz="36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pt-BR" sz="3600" dirty="0"/>
              </a:p>
            </p:txBody>
          </p:sp>
        </mc:Choice>
        <mc:Fallback xmlns="">
          <p:sp>
            <p:nvSpPr>
              <p:cNvPr id="2" name="Título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39341"/>
                <a:ext cx="8229600" cy="4525963"/>
              </a:xfrm>
            </p:spPr>
            <p:txBody>
              <a:bodyPr/>
              <a:lstStyle/>
              <a:p>
                <a:pPr>
                  <a:buFont typeface="Wingdings" pitchFamily="2" charset="2"/>
                  <a:buChar char="Ø"/>
                </a:pPr>
                <a:r>
                  <a:rPr lang="pt-BR" sz="2400" dirty="0"/>
                  <a:t>Observe que</a:t>
                </a:r>
              </a:p>
              <a:p>
                <a:pPr marL="0" indent="0">
                  <a:buNone/>
                </a:pPr>
                <a:r>
                  <a:rPr lang="pt-BR" sz="2400" dirty="0"/>
                  <a:t>	</a:t>
                </a:r>
              </a:p>
              <a:p>
                <a:pPr marL="0" indent="0">
                  <a:buNone/>
                </a:pPr>
                <a:endParaRPr lang="pt-BR" sz="2400" dirty="0"/>
              </a:p>
              <a:p>
                <a:pPr marL="0" indent="0">
                  <a:buNone/>
                </a:pPr>
                <a:endParaRPr lang="pt-BR" sz="2400" dirty="0"/>
              </a:p>
              <a:p>
                <a:pPr marL="0" indent="0">
                  <a:buNone/>
                </a:pPr>
                <a:endParaRPr lang="pt-BR" sz="2400" dirty="0"/>
              </a:p>
              <a:p>
                <a:pPr marL="0" indent="0">
                  <a:buNone/>
                </a:pPr>
                <a:r>
                  <a:rPr lang="pt-BR" sz="2400" dirty="0"/>
                  <a:t>expressa o </a:t>
                </a:r>
                <a:r>
                  <a:rPr lang="pt-BR" sz="2400" dirty="0">
                    <a:solidFill>
                      <a:srgbClr val="FF0000"/>
                    </a:solidFill>
                  </a:rPr>
                  <a:t>resíduo das observações que não é bem explicado pelo ajuste</a:t>
                </a:r>
                <a:r>
                  <a:rPr lang="pt-BR" sz="2400" dirty="0"/>
                  <a:t>.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pt-BR" sz="2400" dirty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sz="2400" b="0" i="1" smtClean="0">
                        <a:latin typeface="Cambria Math"/>
                      </a:rPr>
                      <m:t>=</m:t>
                    </m:r>
                    <m:r>
                      <a:rPr lang="pt-BR" sz="24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2400" dirty="0"/>
                  <a:t> o resíduo seria nulo, mas uma vez que as medidas de y estão sujeitas a erros aleatórios, esperamos encontrar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/>
                          </a:rPr>
                          <m:t>χ</m:t>
                        </m:r>
                      </m:e>
                      <m:sup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 i="1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pt-BR" sz="2400" b="0" i="1" smtClean="0">
                        <a:latin typeface="Cambria Math"/>
                        <a:ea typeface="Cambria Math"/>
                      </a:rPr>
                      <m:t>0</m:t>
                    </m:r>
                  </m:oMath>
                </a14:m>
                <a:r>
                  <a:rPr lang="pt-BR" sz="2400" dirty="0"/>
                  <a:t>, por mero </a:t>
                </a:r>
                <a:r>
                  <a:rPr lang="pt-BR" sz="2400"/>
                  <a:t>acaso.</a:t>
                </a:r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39341"/>
                <a:ext cx="8229600" cy="4525963"/>
              </a:xfrm>
              <a:blipFill rotWithShape="1">
                <a:blip r:embed="rId4"/>
                <a:stretch>
                  <a:fillRect l="-1111" t="-10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to 3"/>
          <p:cNvGraphicFramePr>
            <a:graphicFrameLocks noChangeAspect="1"/>
          </p:cNvGraphicFramePr>
          <p:nvPr/>
        </p:nvGraphicFramePr>
        <p:xfrm>
          <a:off x="2268538" y="2205038"/>
          <a:ext cx="3587750" cy="1319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97" name="Equação" r:id="rId5" imgW="1384300" imgH="508000" progId="Equation.3">
                  <p:embed/>
                </p:oleObj>
              </mc:Choice>
              <mc:Fallback>
                <p:oleObj name="Equação" r:id="rId5" imgW="1384300" imgH="5080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205038"/>
                        <a:ext cx="3587750" cy="1319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3331145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sz="3600" dirty="0"/>
                  <a:t>5.2-Distribuição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3600" i="1" smtClean="0">
                            <a:latin typeface="Cambria Math"/>
                          </a:rPr>
                          <m:t>χ</m:t>
                        </m:r>
                      </m:e>
                      <m:sup>
                        <m:r>
                          <a:rPr lang="pt-BR" sz="36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pt-BR" sz="3600" dirty="0"/>
              </a:p>
            </p:txBody>
          </p:sp>
        </mc:Choice>
        <mc:Fallback xmlns="">
          <p:sp>
            <p:nvSpPr>
              <p:cNvPr id="2" name="Título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itchFamily="2" charset="2"/>
                  <a:buChar char="Ø"/>
                </a:pPr>
                <a:r>
                  <a:rPr lang="pt-BR" sz="2400" dirty="0"/>
                  <a:t>A questão é </a:t>
                </a:r>
                <a:r>
                  <a:rPr lang="pt-BR" sz="2400" dirty="0">
                    <a:solidFill>
                      <a:srgbClr val="FF0000"/>
                    </a:solidFill>
                  </a:rPr>
                  <a:t>que valor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χ</m:t>
                        </m:r>
                      </m:e>
                      <m:sup>
                        <m:r>
                          <a:rPr lang="pt-BR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>
                    <a:solidFill>
                      <a:srgbClr val="FF0000"/>
                    </a:solidFill>
                  </a:rPr>
                  <a:t> pode ser considerado estatisticamente significativo para que possamos rejeitar a hipótese de que os dados sejam bem descritos pelo ajuste?</a:t>
                </a:r>
                <a:endParaRPr lang="pt-BR" sz="2400" dirty="0"/>
              </a:p>
              <a:p>
                <a:pPr>
                  <a:buFont typeface="Wingdings" pitchFamily="2" charset="2"/>
                  <a:buChar char="Ø"/>
                </a:pPr>
                <a:r>
                  <a:rPr lang="pt-BR" sz="2400" dirty="0"/>
                  <a:t>Para responder esta pergunta precisamos conhecer a função densidade de probabilidade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χ</m:t>
                        </m:r>
                      </m:e>
                      <m:sup>
                        <m: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/>
                  <a:t>.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pt-BR" sz="2400" dirty="0"/>
                  <a:t>Escrevendo-se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χ</m:t>
                        </m:r>
                      </m:e>
                      <m:sup>
                        <m: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pt-BR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𝑘</m:t>
                        </m:r>
                      </m:sup>
                      <m:e>
                        <m:sSup>
                          <m:sSupPr>
                            <m:ctrlPr>
                              <a:rPr lang="pt-B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pt-BR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pt-BR" sz="2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pt-BR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pt-BR" sz="2400" dirty="0"/>
                  <a:t>, tal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dirty="0"/>
                  <a:t> são k</a:t>
                </a:r>
                <a:r>
                  <a:rPr lang="pt-PT" sz="2400" dirty="0">
                    <a:effectLst/>
                  </a:rPr>
                  <a:t> variáveis </a:t>
                </a:r>
                <a:r>
                  <a:rPr lang="pt-PT" sz="2400" dirty="0"/>
                  <a:t>aleatórias independentes obedecendo </a:t>
                </a:r>
                <a:r>
                  <a:rPr lang="pt-PT" sz="2400" dirty="0">
                    <a:effectLst/>
                  </a:rPr>
                  <a:t>distribuições normais padronizadas (ou seja, média 0 e desvio padrão 1), mostra-se que a distribuição Chi-quadrado com k graus de liberdade pode ser esboçada pelos gráficos abaixo:</a:t>
                </a:r>
              </a:p>
              <a:p>
                <a:pPr>
                  <a:buFont typeface="Wingdings" pitchFamily="2" charset="2"/>
                  <a:buChar char="Ø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073211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sz="3600" dirty="0"/>
                  <a:t>5.2-Distribuição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3600" i="1" smtClean="0">
                            <a:latin typeface="Cambria Math"/>
                          </a:rPr>
                          <m:t>χ</m:t>
                        </m:r>
                      </m:e>
                      <m:sup>
                        <m:r>
                          <a:rPr lang="pt-BR" sz="36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pt-BR" sz="3600" dirty="0"/>
              </a:p>
            </p:txBody>
          </p:sp>
        </mc:Choice>
        <mc:Fallback xmlns="">
          <p:sp>
            <p:nvSpPr>
              <p:cNvPr id="2" name="Título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196752"/>
            <a:ext cx="5609597" cy="420719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611560" y="5445224"/>
                <a:ext cx="770485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b="1" dirty="0"/>
                  <a:t>Obs: </a:t>
                </a:r>
                <a:r>
                  <a:rPr lang="pt-BR" dirty="0"/>
                  <a:t>A menos nos casos de poucos graus de liberdade, a probabilidade de obter um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/>
                          </a:rPr>
                          <m:t>χ</m:t>
                        </m:r>
                      </m:e>
                      <m:sup>
                        <m:r>
                          <a:rPr lang="pt-BR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b="1" dirty="0"/>
                  <a:t> </a:t>
                </a:r>
                <a:r>
                  <a:rPr lang="pt-BR" dirty="0"/>
                  <a:t>excessivamente pequeno é baixa. Isto indica que 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b="1" dirty="0"/>
                  <a:t> </a:t>
                </a:r>
                <a:r>
                  <a:rPr lang="pt-BR" dirty="0"/>
                  <a:t>estão excessivamente altos.</a:t>
                </a:r>
                <a:endParaRPr lang="pt-BR" b="1" dirty="0"/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5445224"/>
                <a:ext cx="7704856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633" t="-3289" b="-92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5081374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sz="3600" dirty="0"/>
                  <a:t>5.2-Distribuição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36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χ</m:t>
                        </m:r>
                      </m:e>
                      <m:sup>
                        <m:r>
                          <a:rPr lang="pt-BR" sz="36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pt-BR" sz="3600" dirty="0"/>
              </a:p>
            </p:txBody>
          </p:sp>
        </mc:Choice>
        <mc:Fallback xmlns="">
          <p:sp>
            <p:nvSpPr>
              <p:cNvPr id="2" name="Título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itchFamily="2" charset="2"/>
                  <a:buChar char="Ø"/>
                </a:pPr>
                <a:r>
                  <a:rPr lang="pt-BR" sz="2400" dirty="0"/>
                  <a:t>Podemos calcular a probabilidade de se obter um valor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/>
                          </a:rPr>
                          <m:t>χ</m:t>
                        </m:r>
                      </m:e>
                      <m:sup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 i="1" smtClean="0">
                        <a:latin typeface="Cambria Math"/>
                        <a:ea typeface="Cambria Math"/>
                      </a:rPr>
                      <m:t>&gt;</m:t>
                    </m:r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pt-BR" sz="240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 smtClean="0">
                                <a:latin typeface="Cambria Math"/>
                                <a:ea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pt-BR" sz="2400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a:rPr lang="pt-BR" sz="2400" b="0" i="1" smtClean="0">
                            <a:latin typeface="Cambria Math"/>
                            <a:ea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pt-BR" sz="2400" dirty="0"/>
                  <a:t> </a:t>
                </a:r>
              </a:p>
              <a:p>
                <a:pPr marL="0" indent="0">
                  <a:buNone/>
                </a:pPr>
                <a:r>
                  <a:rPr lang="pt-BR" sz="2400" dirty="0"/>
                  <a:t>	</a:t>
                </a:r>
              </a:p>
              <a:p>
                <a:pPr>
                  <a:buFont typeface="Wingdings" pitchFamily="2" charset="2"/>
                  <a:buChar char="Ø"/>
                </a:pPr>
                <a:endParaRPr lang="pt-BR" sz="2400" dirty="0"/>
              </a:p>
              <a:p>
                <a:pPr marL="0" indent="0">
                  <a:buNone/>
                </a:pPr>
                <a:endParaRPr lang="pt-BR" sz="2400" dirty="0"/>
              </a:p>
              <a:p>
                <a:pPr marL="0" indent="0">
                  <a:buNone/>
                </a:pPr>
                <a:endParaRPr lang="pt-BR" sz="2400" dirty="0"/>
              </a:p>
              <a:p>
                <a:pPr marL="0" indent="0">
                  <a:buNone/>
                </a:pPr>
                <a:endParaRPr lang="pt-BR" sz="2400" dirty="0"/>
              </a:p>
              <a:p>
                <a:pPr marL="0" indent="0">
                  <a:buNone/>
                </a:pPr>
                <a:endParaRPr lang="pt-BR" sz="2400" dirty="0"/>
              </a:p>
              <a:p>
                <a:pPr marL="0" indent="0">
                  <a:buNone/>
                </a:pPr>
                <a:r>
                  <a:rPr lang="pt-BR" sz="2400" dirty="0"/>
                  <a:t>usando a tabela:</a:t>
                </a:r>
              </a:p>
              <a:p>
                <a:pPr marL="0" indent="0">
                  <a:buNone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111" t="-10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522036"/>
            <a:ext cx="3763094" cy="2419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1686146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sz="3600" dirty="0"/>
                  <a:t>5.2-Distribuição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3600" i="1" smtClean="0">
                            <a:latin typeface="Cambria Math"/>
                          </a:rPr>
                          <m:t>χ</m:t>
                        </m:r>
                      </m:e>
                      <m:sup>
                        <m:r>
                          <a:rPr lang="pt-BR" sz="36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3600" dirty="0"/>
                  <a:t> </a:t>
                </a:r>
              </a:p>
            </p:txBody>
          </p:sp>
        </mc:Choice>
        <mc:Fallback xmlns="">
          <p:sp>
            <p:nvSpPr>
              <p:cNvPr id="2" name="Título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sz="2400" dirty="0"/>
          </a:p>
        </p:txBody>
      </p:sp>
      <p:pic>
        <p:nvPicPr>
          <p:cNvPr id="573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2175475"/>
            <a:ext cx="9145016" cy="4133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9213248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sz="3200" dirty="0"/>
                  <a:t>5.2-Distribuição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3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χ</m:t>
                        </m:r>
                      </m:e>
                      <m:sup>
                        <m:r>
                          <a:rPr lang="pt-BR" sz="3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pt-BR" sz="3200" dirty="0"/>
              </a:p>
            </p:txBody>
          </p:sp>
        </mc:Choice>
        <mc:Fallback xmlns="">
          <p:sp>
            <p:nvSpPr>
              <p:cNvPr id="2" name="Título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itchFamily="2" charset="2"/>
                  <a:buChar char="Ø"/>
                </a:pPr>
                <a:r>
                  <a:rPr lang="pt-BR" sz="2400" dirty="0"/>
                  <a:t>No caso de uma regressão linear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pt-BR" sz="2400" b="0" i="1" smtClean="0">
                        <a:latin typeface="Cambria Math"/>
                      </a:rPr>
                      <m:t>=</m:t>
                    </m:r>
                    <m:r>
                      <a:rPr lang="pt-BR" sz="2400" b="0" i="1" smtClean="0">
                        <a:latin typeface="Cambria Math"/>
                      </a:rPr>
                      <m:t>𝑎𝑥</m:t>
                    </m:r>
                    <m:r>
                      <a:rPr lang="pt-BR" sz="2400" b="0" i="1" smtClean="0">
                        <a:latin typeface="Cambria Math"/>
                      </a:rPr>
                      <m:t>+</m:t>
                    </m:r>
                    <m:r>
                      <a:rPr lang="pt-BR" sz="2400" b="0" i="1" smtClean="0">
                        <a:latin typeface="Cambria Math"/>
                      </a:rPr>
                      <m:t>𝑏</m:t>
                    </m:r>
                  </m:oMath>
                </a14:m>
                <a:r>
                  <a:rPr lang="pt-BR" sz="2400" dirty="0"/>
                  <a:t>, o número de parâmetros de ajuste é n=2. Então a condição de máxima probabilidade imposta pelo método do mínimos quadrados</a:t>
                </a:r>
              </a:p>
              <a:p>
                <a:pPr marL="0" indent="0">
                  <a:buNone/>
                </a:pPr>
                <a:r>
                  <a:rPr lang="pt-BR" sz="2400" dirty="0"/>
                  <a:t>	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pt-BR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sz="2400" i="1" smtClean="0">
                                    <a:latin typeface="Cambria Math"/>
                                    <a:ea typeface="Cambria Math"/>
                                  </a:rPr>
                                  <m:t>𝜕</m:t>
                                </m:r>
                                <m:sSup>
                                  <m:sSupPr>
                                    <m:ctrlPr>
                                      <a:rPr lang="pt-BR" sz="2400" i="1" smtClean="0"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400" i="1" smtClean="0">
                                        <a:latin typeface="Cambria Math"/>
                                        <a:ea typeface="Cambria Math"/>
                                      </a:rPr>
                                      <m:t>χ</m:t>
                                    </m:r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/>
                                        <a:ea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pt-BR" sz="2400" i="1" smtClean="0">
                                    <a:latin typeface="Cambria Math"/>
                                    <a:ea typeface="Cambria Math"/>
                                  </a:rPr>
                                  <m:t>𝜕</m:t>
                                </m:r>
                                <m:r>
                                  <a:rPr lang="pt-BR" sz="2400" b="0" i="1" smtClean="0">
                                    <a:latin typeface="Cambria Math"/>
                                    <a:ea typeface="Cambria Math"/>
                                  </a:rPr>
                                  <m:t>𝑎</m:t>
                                </m:r>
                              </m:den>
                            </m:f>
                            <m:r>
                              <a:rPr lang="pt-BR" sz="2400" b="0" i="1" smtClean="0">
                                <a:latin typeface="Cambria Math"/>
                              </a:rPr>
                              <m:t>=0</m:t>
                            </m:r>
                          </m:e>
                          <m:e>
                            <m:f>
                              <m:fPr>
                                <m:ctrlPr>
                                  <a:rPr lang="pt-BR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sz="2400" i="1" smtClean="0">
                                    <a:latin typeface="Cambria Math"/>
                                    <a:ea typeface="Cambria Math"/>
                                  </a:rPr>
                                  <m:t>𝜕</m:t>
                                </m:r>
                                <m:sSup>
                                  <m:sSupPr>
                                    <m:ctrlPr>
                                      <a:rPr lang="pt-BR" sz="2400" i="1" smtClean="0"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400" i="1" smtClean="0">
                                        <a:latin typeface="Cambria Math"/>
                                        <a:ea typeface="Cambria Math"/>
                                      </a:rPr>
                                      <m:t>χ</m:t>
                                    </m:r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/>
                                        <a:ea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pt-BR" sz="2400" i="1" smtClean="0">
                                    <a:latin typeface="Cambria Math"/>
                                    <a:ea typeface="Cambria Math"/>
                                  </a:rPr>
                                  <m:t>𝜕</m:t>
                                </m:r>
                                <m:r>
                                  <a:rPr lang="pt-BR" sz="2400" b="0" i="1" smtClean="0">
                                    <a:latin typeface="Cambria Math"/>
                                    <a:ea typeface="Cambria Math"/>
                                  </a:rPr>
                                  <m:t>𝑏</m:t>
                                </m:r>
                              </m:den>
                            </m:f>
                            <m:r>
                              <a:rPr lang="pt-BR" sz="2400" b="0" i="1" smtClean="0">
                                <a:latin typeface="Cambria Math"/>
                              </a:rPr>
                              <m:t>=0</m:t>
                            </m:r>
                          </m:e>
                        </m:eqArr>
                      </m:e>
                    </m:d>
                  </m:oMath>
                </a14:m>
                <a:endParaRPr lang="pt-BR" sz="2400" dirty="0"/>
              </a:p>
              <a:p>
                <a:pPr marL="0" indent="0">
                  <a:buNone/>
                </a:pPr>
                <a:r>
                  <a:rPr lang="pt-BR" sz="2400" dirty="0"/>
                  <a:t>Introduz 2 relações entre os termos da soma </a:t>
                </a:r>
              </a:p>
              <a:p>
                <a:pPr marL="0" indent="0">
                  <a:buNone/>
                </a:pPr>
                <a:r>
                  <a:rPr lang="pt-BR" sz="2400" dirty="0"/>
                  <a:t>De modo que o número de graus de liberdade é</a:t>
                </a:r>
              </a:p>
              <a:p>
                <a:pPr marL="0" indent="0">
                  <a:buNone/>
                </a:pPr>
                <a:r>
                  <a:rPr lang="pt-BR" sz="2400" dirty="0"/>
                  <a:t>	k=N-2.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4"/>
                <a:stretch>
                  <a:fillRect l="-1111" t="-1078" r="-17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330781"/>
              </p:ext>
            </p:extLst>
          </p:nvPr>
        </p:nvGraphicFramePr>
        <p:xfrm>
          <a:off x="6156176" y="3933056"/>
          <a:ext cx="2531236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17" name="Equação" r:id="rId5" imgW="1384300" imgH="508000" progId="Equation.3">
                  <p:embed/>
                </p:oleObj>
              </mc:Choice>
              <mc:Fallback>
                <p:oleObj name="Equação" r:id="rId5" imgW="1384300" imgH="5080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176" y="3933056"/>
                        <a:ext cx="2531236" cy="100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9967651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dirty="0"/>
                  <a:t>5.3-Teste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/>
                          </a:rPr>
                          <m:t>χ</m:t>
                        </m:r>
                      </m:e>
                      <m:sup>
                        <m:r>
                          <a:rPr lang="pt-BR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" name="Título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itchFamily="2" charset="2"/>
                  <a:buChar char="Ø"/>
                </a:pPr>
                <a:r>
                  <a:rPr lang="pt-BR" sz="2400" dirty="0"/>
                  <a:t>É um teste de significância que emprega a distribuição de probabilidades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/>
                          </a:rPr>
                          <m:t>χ</m:t>
                        </m:r>
                      </m:e>
                      <m:sup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/>
                  <a:t>. Existem vários testes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/>
                          </a:rPr>
                          <m:t>χ</m:t>
                        </m:r>
                      </m:e>
                      <m:sup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/>
                  <a:t>, o mais popular deles é o de Pearson, que é não-paramétrico e não deve ser confundido com o teste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/>
                          </a:rPr>
                          <m:t>χ</m:t>
                        </m:r>
                      </m:e>
                      <m:sup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/>
                  <a:t> que se utiliza em física experimental e que será discutido abaixo.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pt-BR" sz="2400" b="1" dirty="0">
                    <a:solidFill>
                      <a:srgbClr val="FF0000"/>
                    </a:solidFill>
                  </a:rPr>
                  <a:t>O teste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𝝌</m:t>
                        </m:r>
                      </m:e>
                      <m:sup>
                        <m:r>
                          <a:rPr lang="pt-BR" sz="24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pt-BR" sz="2400" b="1" dirty="0">
                    <a:solidFill>
                      <a:srgbClr val="FF0000"/>
                    </a:solidFill>
                  </a:rPr>
                  <a:t> que utilizaremos é paramétrico</a:t>
                </a:r>
                <a:r>
                  <a:rPr lang="pt-BR" sz="2400" dirty="0"/>
                  <a:t>, pois assume que os dados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2400" dirty="0"/>
                  <a:t> obedecem a uma distribuição normal e são medidos em unidades constantes, de tal forma que se possa calcular a diferença entre duas medidas quaisquer.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963" t="-1078" r="-7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4190151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sz="3600" dirty="0"/>
                  <a:t>5.3-Teste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3600" i="1" smtClean="0">
                            <a:latin typeface="Cambria Math"/>
                          </a:rPr>
                          <m:t>χ</m:t>
                        </m:r>
                      </m:e>
                      <m:sup>
                        <m:r>
                          <a:rPr lang="pt-BR" sz="36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pt-BR" sz="3600" dirty="0"/>
              </a:p>
            </p:txBody>
          </p:sp>
        </mc:Choice>
        <mc:Fallback xmlns="">
          <p:sp>
            <p:nvSpPr>
              <p:cNvPr id="2" name="Título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1340768"/>
                <a:ext cx="8229600" cy="4997152"/>
              </a:xfrm>
            </p:spPr>
            <p:txBody>
              <a:bodyPr/>
              <a:lstStyle/>
              <a:p>
                <a:pPr>
                  <a:buFont typeface="Wingdings" pitchFamily="2" charset="2"/>
                  <a:buChar char="Ø"/>
                </a:pPr>
                <a:r>
                  <a:rPr lang="pt-BR" sz="2400" b="1" dirty="0"/>
                  <a:t>Hipótese nula: </a:t>
                </a:r>
                <a:r>
                  <a:rPr lang="pt-BR" sz="2400" dirty="0"/>
                  <a:t>Os pontos experimentais são bem ajustados pela regressão linear.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pt-BR" sz="2400" b="1" dirty="0"/>
                  <a:t>Nível de significância: </a:t>
                </a:r>
                <a:r>
                  <a:rPr lang="pt-BR" sz="2400" dirty="0"/>
                  <a:t>Probabilidade máxima de se cometer erro ao rejeitar a hipótese nula. Adotaremos </a:t>
                </a:r>
                <a:r>
                  <a:rPr lang="pt-BR" sz="2400" dirty="0">
                    <a:solidFill>
                      <a:srgbClr val="FF0000"/>
                    </a:solidFill>
                  </a:rPr>
                  <a:t>5% </a:t>
                </a:r>
                <a:r>
                  <a:rPr lang="pt-BR" sz="2400" dirty="0"/>
                  <a:t>(probabilidade cumulativa caudal direita).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pt-BR" sz="2400" dirty="0"/>
                  <a:t>Se um ajuste passar no teste, isto significa que </a:t>
                </a:r>
                <a:r>
                  <a:rPr lang="pt-BR" sz="2400" dirty="0">
                    <a:solidFill>
                      <a:srgbClr val="FF0000"/>
                    </a:solidFill>
                  </a:rPr>
                  <a:t>a um nível de significância de 5% podemos aceitar a hipótese nula</a:t>
                </a:r>
                <a:r>
                  <a:rPr lang="pt-BR" sz="2400" dirty="0"/>
                  <a:t>, pois a discrepância entre os dados obtidos e os valores previstos não é estatisticamente significativa para rejeitar a hipótese nula.</a:t>
                </a:r>
              </a:p>
              <a:p>
                <a:pPr marL="0" indent="0">
                  <a:buNone/>
                </a:pPr>
                <a:r>
                  <a:rPr lang="pt-BR" sz="2400" dirty="0"/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/>
                          </a:rPr>
                          <m:t>χ</m:t>
                        </m:r>
                      </m:e>
                      <m:sup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 i="1" smtClean="0">
                        <a:latin typeface="Cambria Math"/>
                        <a:ea typeface="Cambria Math"/>
                      </a:rPr>
                      <m:t>&gt;</m:t>
                    </m:r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pt-BR" sz="240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 smtClean="0">
                                <a:latin typeface="Cambria Math"/>
                                <a:ea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pt-BR" sz="2400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a:rPr lang="pt-BR" sz="2400" b="0" i="1" smtClean="0">
                            <a:latin typeface="Cambria Math"/>
                            <a:ea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pt-BR" sz="2400" dirty="0"/>
                  <a:t>: hipótese nula rejeitada</a:t>
                </a:r>
              </a:p>
              <a:p>
                <a:pPr marL="0" indent="0">
                  <a:buNone/>
                </a:pPr>
                <a:r>
                  <a:rPr lang="pt-BR" sz="24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/>
                          </a:rPr>
                          <m:t>χ</m:t>
                        </m:r>
                      </m:e>
                      <m:sup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 b="0" i="1" smtClean="0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pt-BR" sz="240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 smtClean="0">
                                <a:latin typeface="Cambria Math"/>
                                <a:ea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pt-BR" sz="2400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a:rPr lang="pt-BR" sz="2400" b="0" i="1" smtClean="0">
                            <a:latin typeface="Cambria Math"/>
                            <a:ea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pt-BR" sz="2400" dirty="0"/>
                  <a:t>: hipótese nula aceita (ajuste </a:t>
                </a:r>
                <a:r>
                  <a:rPr lang="pt-BR" sz="2400" b="1" dirty="0"/>
                  <a:t>aprovado</a:t>
                </a:r>
                <a:r>
                  <a:rPr lang="pt-BR" sz="2400" dirty="0"/>
                  <a:t> no teste)</a:t>
                </a:r>
              </a:p>
              <a:p>
                <a:pPr marL="0" indent="0">
                  <a:buNone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1340768"/>
                <a:ext cx="8229600" cy="4997152"/>
              </a:xfrm>
              <a:blipFill rotWithShape="1">
                <a:blip r:embed="rId3"/>
                <a:stretch>
                  <a:fillRect l="-1037" t="-976" r="-16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8500038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6-Exercícios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288" y="1412875"/>
            <a:ext cx="8229600" cy="1684338"/>
          </a:xfrm>
        </p:spPr>
        <p:txBody>
          <a:bodyPr/>
          <a:lstStyle/>
          <a:p>
            <a:pPr marL="514350" indent="-514350">
              <a:buFont typeface="+mj-lt"/>
              <a:buAutoNum type="arabicParenR"/>
              <a:defRPr/>
            </a:pPr>
            <a:r>
              <a:rPr lang="pt-BR" sz="2400" dirty="0"/>
              <a:t>Calcule b e sua incerteza por mínimos quadrados, no caso linear f=</a:t>
            </a:r>
            <a:r>
              <a:rPr lang="pt-BR" sz="2400" dirty="0" err="1"/>
              <a:t>bx</a:t>
            </a:r>
            <a:r>
              <a:rPr lang="pt-BR" sz="2400" dirty="0"/>
              <a:t>.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pt-BR" sz="2400" dirty="0"/>
              <a:t>Determine a, b e suas respectivas incertezas, para a função y(x)=</a:t>
            </a:r>
            <a:r>
              <a:rPr lang="pt-BR" sz="2400" dirty="0" err="1"/>
              <a:t>a+bx</a:t>
            </a:r>
            <a:r>
              <a:rPr lang="pt-BR" sz="2400" dirty="0"/>
              <a:t> que melhor ajusta os dados:</a:t>
            </a:r>
          </a:p>
          <a:p>
            <a:pPr marL="0" indent="0">
              <a:buFont typeface="Arial" charset="0"/>
              <a:buNone/>
              <a:defRPr/>
            </a:pPr>
            <a:r>
              <a:rPr lang="pt-BR" sz="2800" dirty="0"/>
              <a:t>	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/>
        </p:nvGraphicFramePr>
        <p:xfrm>
          <a:off x="3563938" y="3213100"/>
          <a:ext cx="1725612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4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089">
                <a:tc>
                  <a:txBody>
                    <a:bodyPr/>
                    <a:lstStyle/>
                    <a:p>
                      <a:r>
                        <a:rPr lang="pt-BR" sz="1400" dirty="0"/>
                        <a:t>t(s)</a:t>
                      </a:r>
                    </a:p>
                  </a:txBody>
                  <a:tcPr marL="91474" marR="91474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x(cm)</a:t>
                      </a:r>
                    </a:p>
                  </a:txBody>
                  <a:tcPr marL="91474" marR="91474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s(cm)</a:t>
                      </a:r>
                    </a:p>
                  </a:txBody>
                  <a:tcPr marL="91474" marR="9147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089">
                <a:tc>
                  <a:txBody>
                    <a:bodyPr/>
                    <a:lstStyle/>
                    <a:p>
                      <a:r>
                        <a:rPr lang="pt-BR" sz="1400" dirty="0"/>
                        <a:t>1</a:t>
                      </a:r>
                    </a:p>
                  </a:txBody>
                  <a:tcPr marL="91474" marR="91474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1,06</a:t>
                      </a:r>
                    </a:p>
                  </a:txBody>
                  <a:tcPr marL="91474" marR="91474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0,15</a:t>
                      </a:r>
                    </a:p>
                  </a:txBody>
                  <a:tcPr marL="91474" marR="9147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089">
                <a:tc>
                  <a:txBody>
                    <a:bodyPr/>
                    <a:lstStyle/>
                    <a:p>
                      <a:r>
                        <a:rPr lang="pt-BR" sz="1400" dirty="0"/>
                        <a:t>2</a:t>
                      </a:r>
                    </a:p>
                  </a:txBody>
                  <a:tcPr marL="91474" marR="91474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2,19</a:t>
                      </a:r>
                    </a:p>
                  </a:txBody>
                  <a:tcPr marL="91474" marR="91474"/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0,15</a:t>
                      </a:r>
                      <a:endParaRPr lang="pt-BR" sz="1400" dirty="0"/>
                    </a:p>
                  </a:txBody>
                  <a:tcPr marL="91474" marR="9147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089">
                <a:tc>
                  <a:txBody>
                    <a:bodyPr/>
                    <a:lstStyle/>
                    <a:p>
                      <a:r>
                        <a:rPr lang="pt-BR" sz="1400" dirty="0"/>
                        <a:t>3</a:t>
                      </a:r>
                    </a:p>
                  </a:txBody>
                  <a:tcPr marL="91474" marR="91474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3,12</a:t>
                      </a:r>
                    </a:p>
                  </a:txBody>
                  <a:tcPr marL="91474" marR="91474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0,15</a:t>
                      </a:r>
                    </a:p>
                  </a:txBody>
                  <a:tcPr marL="91474" marR="9147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089">
                <a:tc>
                  <a:txBody>
                    <a:bodyPr/>
                    <a:lstStyle/>
                    <a:p>
                      <a:r>
                        <a:rPr lang="pt-BR" sz="1400" dirty="0"/>
                        <a:t>4</a:t>
                      </a:r>
                    </a:p>
                  </a:txBody>
                  <a:tcPr marL="91474" marR="91474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4,12</a:t>
                      </a:r>
                    </a:p>
                  </a:txBody>
                  <a:tcPr marL="91474" marR="91474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0,15</a:t>
                      </a:r>
                    </a:p>
                  </a:txBody>
                  <a:tcPr marL="91474" marR="9147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089">
                <a:tc>
                  <a:txBody>
                    <a:bodyPr/>
                    <a:lstStyle/>
                    <a:p>
                      <a:r>
                        <a:rPr lang="pt-BR" sz="1400" dirty="0"/>
                        <a:t>5</a:t>
                      </a:r>
                    </a:p>
                  </a:txBody>
                  <a:tcPr marL="91474" marR="91474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5,32</a:t>
                      </a:r>
                    </a:p>
                  </a:txBody>
                  <a:tcPr marL="91474" marR="91474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0,15</a:t>
                      </a:r>
                    </a:p>
                  </a:txBody>
                  <a:tcPr marL="91474" marR="9147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089">
                <a:tc>
                  <a:txBody>
                    <a:bodyPr/>
                    <a:lstStyle/>
                    <a:p>
                      <a:r>
                        <a:rPr lang="pt-BR" sz="1400" dirty="0"/>
                        <a:t>6</a:t>
                      </a:r>
                    </a:p>
                  </a:txBody>
                  <a:tcPr marL="91474" marR="91474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6,31</a:t>
                      </a:r>
                    </a:p>
                  </a:txBody>
                  <a:tcPr marL="91474" marR="91474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0,15</a:t>
                      </a:r>
                    </a:p>
                  </a:txBody>
                  <a:tcPr marL="91474" marR="9147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089">
                <a:tc>
                  <a:txBody>
                    <a:bodyPr/>
                    <a:lstStyle/>
                    <a:p>
                      <a:r>
                        <a:rPr lang="pt-BR" sz="1400" dirty="0"/>
                        <a:t>7</a:t>
                      </a:r>
                    </a:p>
                  </a:txBody>
                  <a:tcPr marL="91474" marR="91474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7,55</a:t>
                      </a:r>
                    </a:p>
                  </a:txBody>
                  <a:tcPr marL="91474" marR="91474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0,15</a:t>
                      </a:r>
                    </a:p>
                  </a:txBody>
                  <a:tcPr marL="91474" marR="9147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089">
                <a:tc>
                  <a:txBody>
                    <a:bodyPr/>
                    <a:lstStyle/>
                    <a:p>
                      <a:r>
                        <a:rPr lang="pt-BR" sz="1400" dirty="0"/>
                        <a:t>8</a:t>
                      </a:r>
                    </a:p>
                  </a:txBody>
                  <a:tcPr marL="91474" marR="91474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8,11</a:t>
                      </a:r>
                    </a:p>
                  </a:txBody>
                  <a:tcPr marL="91474" marR="91474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0,15</a:t>
                      </a:r>
                    </a:p>
                  </a:txBody>
                  <a:tcPr marL="91474" marR="9147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089">
                <a:tc>
                  <a:txBody>
                    <a:bodyPr/>
                    <a:lstStyle/>
                    <a:p>
                      <a:r>
                        <a:rPr lang="pt-BR" sz="1400" dirty="0"/>
                        <a:t>9</a:t>
                      </a:r>
                    </a:p>
                  </a:txBody>
                  <a:tcPr marL="91474" marR="91474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9,10</a:t>
                      </a:r>
                    </a:p>
                  </a:txBody>
                  <a:tcPr marL="91474" marR="91474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0,15</a:t>
                      </a:r>
                    </a:p>
                  </a:txBody>
                  <a:tcPr marL="91474" marR="9147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089">
                <a:tc>
                  <a:txBody>
                    <a:bodyPr/>
                    <a:lstStyle/>
                    <a:p>
                      <a:r>
                        <a:rPr lang="pt-BR" sz="1400" dirty="0"/>
                        <a:t>10</a:t>
                      </a:r>
                    </a:p>
                  </a:txBody>
                  <a:tcPr marL="91474" marR="91474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10,23</a:t>
                      </a:r>
                    </a:p>
                  </a:txBody>
                  <a:tcPr marL="91474" marR="91474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0,15</a:t>
                      </a:r>
                    </a:p>
                  </a:txBody>
                  <a:tcPr marL="91474" marR="9147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6-Exercícios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1268760"/>
                <a:ext cx="8229600" cy="521317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pt-BR" sz="2400" dirty="0"/>
                  <a:t>3) Para uma regressão linear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latin typeface="Cambria Math"/>
                      </a:rPr>
                      <m:t>=</m:t>
                    </m:r>
                    <m:r>
                      <a:rPr lang="pt-BR" sz="2400" b="0" i="1" smtClean="0">
                        <a:latin typeface="Cambria Math"/>
                      </a:rPr>
                      <m:t>𝑎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sz="2400" b="0" i="1" smtClean="0">
                        <a:latin typeface="Cambria Math"/>
                      </a:rPr>
                      <m:t>+</m:t>
                    </m:r>
                    <m:r>
                      <a:rPr lang="pt-BR" sz="2400" b="0" i="1" smtClean="0">
                        <a:latin typeface="Cambria Math"/>
                      </a:rPr>
                      <m:t>𝑏</m:t>
                    </m:r>
                  </m:oMath>
                </a14:m>
                <a:r>
                  <a:rPr lang="pt-BR" sz="2400" dirty="0"/>
                  <a:t>, com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b="0" i="1" smtClean="0">
                            <a:latin typeface="Cambria Math"/>
                          </a:rPr>
                          <m:t>𝑦</m:t>
                        </m:r>
                      </m:e>
                    </m:acc>
                    <m:r>
                      <a:rPr lang="pt-BR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pt-BR" sz="2400" dirty="0"/>
                  <a:t>, prove que:</a:t>
                </a:r>
              </a:p>
              <a:p>
                <a:pPr marL="457200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/>
                      </a:rPr>
                      <m:t>𝑏</m:t>
                    </m:r>
                    <m:r>
                      <a:rPr lang="pt-BR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pt-BR" sz="2400" b="0" i="1" smtClean="0">
                        <a:latin typeface="Cambria Math"/>
                      </a:rPr>
                      <m:t>−</m:t>
                    </m:r>
                    <m:r>
                      <a:rPr lang="pt-BR" sz="2400" b="0" i="1" smtClean="0">
                        <a:latin typeface="Cambria Math"/>
                      </a:rPr>
                      <m:t>𝑎</m:t>
                    </m:r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pt-BR" sz="2400" dirty="0"/>
              </a:p>
              <a:p>
                <a:pPr marL="457200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2400" b="0" i="1" smtClean="0">
                            <a:latin typeface="Cambria Math"/>
                          </a:rPr>
                          <m:t>𝑖</m:t>
                        </m:r>
                        <m:r>
                          <a:rPr lang="pt-BR" sz="2400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pt-BR" sz="2400" b="0" i="1" smtClean="0">
                            <a:latin typeface="Cambria Math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400" b="0" i="1" smtClean="0"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pt-BR" sz="2400" b="0" i="1" smtClean="0"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sz="2400" b="0" i="1" smtClean="0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pt-BR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𝑥𝑦</m:t>
                                    </m:r>
                                  </m:sub>
                                </m:sSub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0" i="1" smtClean="0">
                                            <a:latin typeface="Cambria Math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0" i="1" smtClean="0">
                                            <a:latin typeface="Cambria Math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0" i="1" smtClean="0">
                                            <a:latin typeface="Cambria Math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pt-BR" sz="24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sSup>
                              <m:sSup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sub>
                        </m:sSub>
                        <m:r>
                          <a:rPr lang="pt-BR" sz="2400" b="0" i="1" smtClean="0"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endParaRPr lang="pt-BR" sz="2400" dirty="0"/>
              </a:p>
              <a:p>
                <a:pPr marL="457200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2400" b="0" i="1" smtClean="0">
                            <a:latin typeface="Cambria Math"/>
                          </a:rPr>
                          <m:t>𝑖</m:t>
                        </m:r>
                        <m:r>
                          <a:rPr lang="pt-BR" sz="2400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pt-BR" sz="2400" b="0" i="1" smtClean="0">
                            <a:latin typeface="Cambria Math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0" i="1" smtClean="0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sz="2400" b="0" i="1" smtClean="0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pt-BR" sz="24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sSup>
                          <m:sSup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b="0" i="1" smtClean="0"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pt-BR" sz="24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sub>
                    </m:sSub>
                    <m:r>
                      <a:rPr lang="pt-BR" sz="2400" b="0" i="1" smtClean="0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𝑦</m:t>
                                </m:r>
                              </m:sub>
                            </m:sSub>
                          </m:e>
                          <m:sup>
                            <m:r>
                              <a:rPr lang="pt-BR" sz="24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pt-BR" sz="2400" dirty="0"/>
              </a:p>
              <a:p>
                <a:pPr marL="457200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pt-BR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pt-BR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pt-BR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24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i="1">
                                            <a:solidFill>
                                              <a:prstClr val="black"/>
                                            </a:solidFill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pt-BR" sz="2400" i="1">
                                            <a:solidFill>
                                              <a:prstClr val="black"/>
                                            </a:solidFill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pt-BR" sz="2400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pt-BR" sz="24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sz="2400" i="1">
                                            <a:solidFill>
                                              <a:prstClr val="black"/>
                                            </a:solidFill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pt-BR" sz="24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pt-BR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pt-BR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pt-BR" sz="2400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pt-BR" sz="24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pt-BR" sz="2400" dirty="0"/>
                  <a:t> 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2400" i="1">
                            <a:latin typeface="Cambria Math"/>
                          </a:rPr>
                          <m:t>𝑖</m:t>
                        </m:r>
                        <m:r>
                          <a:rPr lang="pt-BR" sz="24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pt-BR" sz="2400" i="1">
                            <a:latin typeface="Cambria Math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i="1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pt-BR" sz="2400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pt-BR" sz="2400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𝑦</m:t>
                                    </m:r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0" i="1" smtClean="0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pt-BR" sz="24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i="1">
                                        <a:latin typeface="Cambria Math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pt-BR" sz="2400" i="1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pt-BR" sz="24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pt-BR" sz="2400" dirty="0"/>
                  <a:t>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2400" i="1">
                            <a:latin typeface="Cambria Math"/>
                          </a:rPr>
                          <m:t>𝑖</m:t>
                        </m:r>
                        <m:r>
                          <a:rPr lang="pt-BR" sz="24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pt-BR" sz="2400" i="1">
                            <a:latin typeface="Cambria Math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i="1">
                                        <a:latin typeface="Cambria Math"/>
                                      </a:rPr>
                                      <m:t>𝑦</m:t>
                                    </m:r>
                                    <m:r>
                                      <a:rPr lang="pt-BR" sz="2400" i="1">
                                        <a:latin typeface="Cambria Math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2400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pt-BR" sz="2400" i="1">
                                        <a:latin typeface="Cambria Math"/>
                                      </a:rPr>
                                      <m:t>)−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sz="2400" i="1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pt-BR" sz="24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i="1">
                                        <a:latin typeface="Cambria Math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pt-BR" sz="2400" i="1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pt-BR" sz="24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pt-BR" sz="2400"/>
                  <a:t>	</a:t>
                </a:r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1268760"/>
                <a:ext cx="8229600" cy="5213176"/>
              </a:xfrm>
              <a:blipFill rotWithShape="1">
                <a:blip r:embed="rId2"/>
                <a:stretch>
                  <a:fillRect l="-1185" r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41797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>
                <a:solidFill>
                  <a:prstClr val="black"/>
                </a:solidFill>
              </a:rPr>
              <a:t>6-Exercícios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pt-BR" sz="2400" dirty="0"/>
                  <a:t>4) Use os resultados do     exercício 3 para mostrar que:</a:t>
                </a:r>
              </a:p>
              <a:p>
                <a:pPr marL="457200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sz="24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pt-BR" sz="2400" b="0" i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pt-BR" sz="2400" b="0" i="1" smtClean="0">
                                <a:latin typeface="Cambria Math"/>
                              </a:rPr>
                              <m:t>𝑁</m:t>
                            </m:r>
                          </m:sup>
                          <m:e>
                            <m:f>
                              <m:f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400" b="0" i="1" smtClean="0">
                                            <a:latin typeface="Cambria Math"/>
                                          </a:rPr>
                                          <m:t>𝑦</m:t>
                                        </m:r>
                                        <m:d>
                                          <m:dPr>
                                            <m:ctrlP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2400" b="0" i="1" smtClean="0">
                                                    <a:latin typeface="Cambria Math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2400" b="0" i="1" smtClean="0">
                                                    <a:latin typeface="Cambria Math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pt-BR" sz="2400" b="0" i="1" smtClean="0">
                                            <a:latin typeface="Cambria Math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pt-BR" sz="2400" b="0" i="1" smtClean="0">
                                                <a:latin typeface="Cambria Math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0" i="1" smtClean="0">
                                            <a:latin typeface="Cambria Math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sz="24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pt-BR" sz="2400" b="0" i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pt-BR" sz="2400" b="0" i="1" smtClean="0">
                                <a:latin typeface="Cambria Math"/>
                              </a:rPr>
                              <m:t>𝑁</m:t>
                            </m:r>
                          </m:sup>
                          <m:e>
                            <m:f>
                              <m:f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400" b="0" i="1" smtClean="0">
                                                <a:latin typeface="Cambria Math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pt-BR" sz="2400" b="0" i="1" smtClean="0"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pt-BR" sz="2400" b="0" i="1" smtClean="0">
                                            <a:latin typeface="Cambria Math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pt-BR" sz="2400" b="0" i="1" smtClean="0">
                                                <a:latin typeface="Cambria Math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400" b="0" i="1" smtClean="0">
                                            <a:latin typeface="Cambria Math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pt-BR" sz="2400" b="0" i="1" smtClean="0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den>
                    </m:f>
                  </m:oMath>
                </a14:m>
                <a:r>
                  <a:rPr lang="pt-BR" sz="2400" dirty="0"/>
                  <a:t> </a:t>
                </a:r>
              </a:p>
              <a:p>
                <a:pPr marL="457200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𝑥𝑦</m:t>
                                    </m:r>
                                  </m:sub>
                                </m:sSub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pt-BR" sz="24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d>
                          <m:d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𝑆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pt-BR" sz="2400" b="0" i="1" smtClean="0">
                                <a:latin typeface="Cambria Math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𝑆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pt-BR" sz="2400" b="0" i="1" smtClean="0">
                                <a:latin typeface="Cambria Math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pt-BR" sz="2400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0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2449705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6-Exercícios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pt-BR" sz="1600" dirty="0"/>
                  <a:t>5)  A partir dos dados experimentais da tabela ao lado, efetue a regressão linear y = a + b x e determine:</a:t>
                </a:r>
              </a:p>
              <a:p>
                <a:pPr marL="457200" indent="-457200">
                  <a:buFont typeface="+mj-lt"/>
                  <a:buAutoNum type="alphaLcParenR"/>
                </a:pPr>
                <a:r>
                  <a:rPr lang="pt-BR" sz="1600" dirty="0"/>
                  <a:t>O valor de a</a:t>
                </a:r>
              </a:p>
              <a:p>
                <a:pPr marL="457200" indent="-457200">
                  <a:buFont typeface="+mj-lt"/>
                  <a:buAutoNum type="alphaLcParenR"/>
                </a:pPr>
                <a:r>
                  <a:rPr lang="pt-BR" sz="1600" dirty="0"/>
                  <a:t>O valor de b</a:t>
                </a:r>
              </a:p>
              <a:p>
                <a:pPr marL="457200" indent="-457200">
                  <a:buFont typeface="+mj-lt"/>
                  <a:buAutoNum type="alphaLcParenR"/>
                </a:pPr>
                <a:r>
                  <a:rPr lang="pt-BR" sz="1600" dirty="0"/>
                  <a:t>O valor da incerteza de a</a:t>
                </a:r>
              </a:p>
              <a:p>
                <a:pPr marL="457200" indent="-457200">
                  <a:buFont typeface="+mj-lt"/>
                  <a:buAutoNum type="alphaLcParenR"/>
                </a:pPr>
                <a:r>
                  <a:rPr lang="pt-BR" sz="1600" dirty="0"/>
                  <a:t>O valor da incerteza de b</a:t>
                </a:r>
              </a:p>
              <a:p>
                <a:pPr marL="457200" indent="-457200">
                  <a:buFont typeface="+mj-lt"/>
                  <a:buAutoNum type="alphaLcParenR"/>
                </a:pPr>
                <a:r>
                  <a:rPr lang="pt-BR" sz="1600" dirty="0"/>
                  <a:t>O coeficiente de determinação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600" b="0" i="1" smtClean="0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pt-BR" sz="16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pt-BR" sz="1600" dirty="0"/>
              </a:p>
              <a:p>
                <a:pPr marL="457200" indent="-457200">
                  <a:buFont typeface="+mj-lt"/>
                  <a:buAutoNum type="alphaLcParenR"/>
                </a:pPr>
                <a:r>
                  <a:rPr lang="pt-BR" sz="1600" dirty="0"/>
                  <a:t>O valor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1600" i="1" smtClean="0">
                            <a:latin typeface="Cambria Math"/>
                          </a:rPr>
                          <m:t>χ</m:t>
                        </m:r>
                      </m:e>
                      <m:sup>
                        <m:r>
                          <a:rPr lang="pt-BR" sz="16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pt-BR" sz="1600" dirty="0"/>
              </a:p>
              <a:p>
                <a:pPr marL="457200" indent="-457200">
                  <a:buFont typeface="+mj-lt"/>
                  <a:buAutoNum type="alphaLcParenR"/>
                </a:pPr>
                <a:r>
                  <a:rPr lang="pt-BR" sz="1600" dirty="0"/>
                  <a:t>O valor de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1600" b="0" i="1" smtClean="0">
                                <a:latin typeface="Cambria Math"/>
                              </a:rPr>
                              <m:t>χ</m:t>
                            </m:r>
                          </m:e>
                          <m:sub>
                            <m:r>
                              <a:rPr lang="pt-BR" sz="1600" b="0" i="1" smtClean="0"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</m:e>
                      <m:sub/>
                      <m:sup>
                        <m:r>
                          <a:rPr lang="pt-BR" sz="1600" b="0" i="1" smtClean="0"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sz="1600" dirty="0"/>
                  <a:t> para nível de significância 5%</a:t>
                </a:r>
              </a:p>
              <a:p>
                <a:pPr marL="457200" indent="-457200">
                  <a:buFont typeface="+mj-lt"/>
                  <a:buAutoNum type="alphaLcParenR"/>
                </a:pPr>
                <a:r>
                  <a:rPr lang="pt-BR" sz="1600" dirty="0"/>
                  <a:t>O gráfico dos pontos experimentais com barras de erro e a reta ajustada sobreposta</a:t>
                </a:r>
              </a:p>
              <a:p>
                <a:pPr marL="457200" indent="-457200">
                  <a:buFont typeface="+mj-lt"/>
                  <a:buAutoNum type="alphaLcParenR"/>
                </a:pPr>
                <a:r>
                  <a:rPr lang="pt-BR" sz="1600" dirty="0"/>
                  <a:t>Os dados passam num teste de linearidade a um nível de significância de 5%?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754" t="-404" r="-1056" b="-57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Espaço Reservado para Conteúdo 4"/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4213060725"/>
                  </p:ext>
                </p:extLst>
              </p:nvPr>
            </p:nvGraphicFramePr>
            <p:xfrm>
              <a:off x="5580112" y="2060848"/>
              <a:ext cx="2084040" cy="22451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46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946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946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1" i="1" smtClean="0">
                                        <a:latin typeface="Cambria Math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pt-BR" b="1" i="1" smtClean="0">
                                        <a:latin typeface="Cambria Math"/>
                                      </a:rPr>
                                      <m:t>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4.9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0.9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14.2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1.4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26.2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1.7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34.6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2.0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44.7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2.1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Espaço Reservado para Conteúdo 4"/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4213060725"/>
                  </p:ext>
                </p:extLst>
              </p:nvPr>
            </p:nvGraphicFramePr>
            <p:xfrm>
              <a:off x="5580112" y="2060848"/>
              <a:ext cx="2084040" cy="22451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4680"/>
                    <a:gridCol w="694680"/>
                    <a:gridCol w="694680"/>
                  </a:tblGrid>
                  <a:tr h="3909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 smtClean="0"/>
                            <a:t>x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 smtClean="0"/>
                            <a:t>y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000" t="-7813" r="-877" b="-50000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1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4.9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0.9</a:t>
                          </a:r>
                          <a:endParaRPr lang="pt-B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3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14.2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1.4</a:t>
                          </a:r>
                          <a:endParaRPr lang="pt-B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5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26.2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1.7</a:t>
                          </a:r>
                          <a:endParaRPr lang="pt-B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7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34.6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2.0</a:t>
                          </a:r>
                          <a:endParaRPr lang="pt-B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9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44.7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2.1</a:t>
                          </a:r>
                          <a:endParaRPr lang="pt-BR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72137706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6-Exercícios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 startAt="6"/>
                </a:pPr>
                <a:r>
                  <a:rPr lang="pt-BR" sz="2000" dirty="0"/>
                  <a:t>Fotografando um corpo em queda livre em vários instantes, podemos determinar sua posição conforme a tabela ao lado. Pode-se dizer que o corpo atingiu a velocidade limite? Sugestão: efetue a regressão linear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𝑣𝑡</m:t>
                    </m:r>
                  </m:oMath>
                </a14:m>
                <a:r>
                  <a:rPr lang="pt-BR" sz="2000" dirty="0"/>
                  <a:t> e faça um teste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000" i="1" smtClean="0">
                            <a:latin typeface="Cambria Math"/>
                          </a:rPr>
                          <m:t>χ</m:t>
                        </m:r>
                      </m:e>
                      <m:sup>
                        <m:r>
                          <a:rPr lang="pt-BR" sz="2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000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59" t="-943" r="-90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Espaço Reservado para Conteúdo 4"/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4199038568"/>
                  </p:ext>
                </p:extLst>
              </p:nvPr>
            </p:nvGraphicFramePr>
            <p:xfrm>
              <a:off x="5436096" y="2348880"/>
              <a:ext cx="2732112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070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1070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107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t(s)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x(cm)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1" i="1" smtClean="0">
                                        <a:latin typeface="Cambria Math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pt-BR" b="1" i="1" smtClean="0">
                                        <a:latin typeface="Cambria Math"/>
                                      </a:rPr>
                                      <m:t>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2,07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0,15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3,88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0,15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5,19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0,15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6,03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0,15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7,47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0,15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7,88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0,15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Espaço Reservado para Conteúdo 4"/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4199038568"/>
                  </p:ext>
                </p:extLst>
              </p:nvPr>
            </p:nvGraphicFramePr>
            <p:xfrm>
              <a:off x="5436096" y="2348880"/>
              <a:ext cx="2732112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0704"/>
                    <a:gridCol w="910704"/>
                    <a:gridCol w="910704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 smtClean="0"/>
                            <a:t>t(s)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 smtClean="0"/>
                            <a:t>x(cm)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342" t="-8197" b="-6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1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2,07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0,15</a:t>
                          </a: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2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3,88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0,15</a:t>
                          </a:r>
                          <a:endParaRPr lang="pt-B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3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5,19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0,15</a:t>
                          </a:r>
                          <a:endParaRPr lang="pt-B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4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6,03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0,15</a:t>
                          </a:r>
                          <a:endParaRPr lang="pt-B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5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7,47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0,15</a:t>
                          </a:r>
                          <a:endParaRPr lang="pt-BR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6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7,88</a:t>
                          </a:r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 smtClean="0"/>
                            <a:t>0,15</a:t>
                          </a:r>
                          <a:endParaRPr lang="pt-BR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76549352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F98104B2-A189-40BA-AEE7-AE26A695F9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528" y="188641"/>
            <a:ext cx="8820472" cy="504056"/>
          </a:xfrm>
        </p:spPr>
        <p:txBody>
          <a:bodyPr/>
          <a:lstStyle/>
          <a:p>
            <a:pPr marL="0" indent="0">
              <a:buNone/>
            </a:pPr>
            <a:r>
              <a:rPr lang="pt-BR" sz="2000" b="1" dirty="0"/>
              <a:t>Resolução exercício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B64F8D49-242E-4F49-A794-E9411EE379F9}"/>
                  </a:ext>
                </a:extLst>
              </p:cNvPr>
              <p:cNvSpPr txBox="1"/>
              <p:nvPr/>
            </p:nvSpPr>
            <p:spPr>
              <a:xfrm>
                <a:off x="3469647" y="1052736"/>
                <a:ext cx="2327625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pt-BR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pt-BR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pt-BR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pt-BR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pt-BR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B64F8D49-242E-4F49-A794-E9411EE37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9647" y="1052736"/>
                <a:ext cx="2327625" cy="7789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E5F83930-889C-4C7C-A141-E13C1B051ECD}"/>
                  </a:ext>
                </a:extLst>
              </p:cNvPr>
              <p:cNvSpPr txBox="1"/>
              <p:nvPr/>
            </p:nvSpPr>
            <p:spPr>
              <a:xfrm>
                <a:off x="4020267" y="2420888"/>
                <a:ext cx="14269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E5F83930-889C-4C7C-A141-E13C1B051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267" y="2420888"/>
                <a:ext cx="1426994" cy="276999"/>
              </a:xfrm>
              <a:prstGeom prst="rect">
                <a:avLst/>
              </a:prstGeom>
              <a:blipFill>
                <a:blip r:embed="rId3"/>
                <a:stretch>
                  <a:fillRect l="-5106" r="-851" b="-3478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8A792697-9659-4B46-8F83-36B2C7969F84}"/>
                  </a:ext>
                </a:extLst>
              </p:cNvPr>
              <p:cNvSpPr txBox="1"/>
              <p:nvPr/>
            </p:nvSpPr>
            <p:spPr>
              <a:xfrm>
                <a:off x="3586014" y="3148608"/>
                <a:ext cx="2308068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8A792697-9659-4B46-8F83-36B2C7969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014" y="3148608"/>
                <a:ext cx="2308068" cy="7789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spaço Reservado para Conteúdo 2">
                <a:extLst>
                  <a:ext uri="{FF2B5EF4-FFF2-40B4-BE49-F238E27FC236}">
                    <a16:creationId xmlns:a16="http://schemas.microsoft.com/office/drawing/2014/main" id="{65EF6A88-00F9-4222-B1D7-E1A0FA7B6C6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23528" y="3597429"/>
                <a:ext cx="8229600" cy="1684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defRPr/>
                </a:pPr>
                <a:endParaRPr lang="pt-BR" sz="2400" dirty="0"/>
              </a:p>
              <a:p>
                <a:pPr marL="0" indent="0">
                  <a:buNone/>
                  <a:defRPr/>
                </a:pPr>
                <a:r>
                  <a:rPr lang="pt-BR" sz="2400" dirty="0"/>
                  <a:t>Substituindo a Eq. (2) na Eq. (1) e minimizando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/>
                  <a:t> em relação a b temos: </a:t>
                </a:r>
                <a:r>
                  <a:rPr lang="pt-BR" sz="2800" dirty="0"/>
                  <a:t>	</a:t>
                </a:r>
              </a:p>
            </p:txBody>
          </p:sp>
        </mc:Choice>
        <mc:Fallback xmlns="">
          <p:sp>
            <p:nvSpPr>
              <p:cNvPr id="14" name="Espaço Reservado para Conteúdo 2">
                <a:extLst>
                  <a:ext uri="{FF2B5EF4-FFF2-40B4-BE49-F238E27FC236}">
                    <a16:creationId xmlns:a16="http://schemas.microsoft.com/office/drawing/2014/main" id="{65EF6A88-00F9-4222-B1D7-E1A0FA7B6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528" y="3597429"/>
                <a:ext cx="8229600" cy="1684338"/>
              </a:xfrm>
              <a:prstGeom prst="rect">
                <a:avLst/>
              </a:prstGeom>
              <a:blipFill>
                <a:blip r:embed="rId5"/>
                <a:stretch>
                  <a:fillRect l="-1111" r="-170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C0294AAB-E15C-4969-B716-45862F19315F}"/>
              </a:ext>
            </a:extLst>
          </p:cNvPr>
          <p:cNvSpPr txBox="1">
            <a:spLocks/>
          </p:cNvSpPr>
          <p:nvPr/>
        </p:nvSpPr>
        <p:spPr bwMode="auto">
          <a:xfrm>
            <a:off x="7603357" y="1023335"/>
            <a:ext cx="1217115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000" dirty="0"/>
              <a:t>Eq. (1)</a:t>
            </a:r>
            <a:r>
              <a:rPr lang="pt-BR" sz="2400" dirty="0"/>
              <a:t>	</a:t>
            </a:r>
          </a:p>
        </p:txBody>
      </p:sp>
      <p:sp>
        <p:nvSpPr>
          <p:cNvPr id="16" name="Espaço Reservado para Conteúdo 2">
            <a:extLst>
              <a:ext uri="{FF2B5EF4-FFF2-40B4-BE49-F238E27FC236}">
                <a16:creationId xmlns:a16="http://schemas.microsoft.com/office/drawing/2014/main" id="{F6EC6647-86BA-466C-BB4C-C23FE6956C34}"/>
              </a:ext>
            </a:extLst>
          </p:cNvPr>
          <p:cNvSpPr txBox="1">
            <a:spLocks/>
          </p:cNvSpPr>
          <p:nvPr/>
        </p:nvSpPr>
        <p:spPr bwMode="auto">
          <a:xfrm>
            <a:off x="7603356" y="2310382"/>
            <a:ext cx="1217115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000" dirty="0"/>
              <a:t>Eq. (2)</a:t>
            </a:r>
            <a:r>
              <a:rPr lang="pt-BR" sz="2400" dirty="0"/>
              <a:t>	</a:t>
            </a:r>
          </a:p>
        </p:txBody>
      </p:sp>
      <p:sp>
        <p:nvSpPr>
          <p:cNvPr id="17" name="Espaço Reservado para Conteúdo 2">
            <a:extLst>
              <a:ext uri="{FF2B5EF4-FFF2-40B4-BE49-F238E27FC236}">
                <a16:creationId xmlns:a16="http://schemas.microsoft.com/office/drawing/2014/main" id="{FA02CA65-8B66-4050-B5F8-6EB6888E1F28}"/>
              </a:ext>
            </a:extLst>
          </p:cNvPr>
          <p:cNvSpPr txBox="1">
            <a:spLocks/>
          </p:cNvSpPr>
          <p:nvPr/>
        </p:nvSpPr>
        <p:spPr bwMode="auto">
          <a:xfrm>
            <a:off x="7603356" y="3300494"/>
            <a:ext cx="1217115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000" dirty="0"/>
              <a:t>Eq. (3)</a:t>
            </a:r>
            <a:r>
              <a:rPr lang="pt-BR" sz="2400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FFA0589F-1390-4D07-B14B-7824A424CEC2}"/>
                  </a:ext>
                </a:extLst>
              </p:cNvPr>
              <p:cNvSpPr txBox="1"/>
              <p:nvPr/>
            </p:nvSpPr>
            <p:spPr>
              <a:xfrm>
                <a:off x="2286000" y="4736399"/>
                <a:ext cx="4572000" cy="8712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2∗</m:t>
                          </m:r>
                          <m:sSup>
                            <m:sSupPr>
                              <m:ctrlPr>
                                <a:rPr lang="pt-B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2−1</m:t>
                                  </m:r>
                                </m:e>
                              </m:d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FFA0589F-1390-4D07-B14B-7824A424C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4736399"/>
                <a:ext cx="4572000" cy="8712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4A89CEFE-3F81-4F08-9F24-C456604DC5DA}"/>
                  </a:ext>
                </a:extLst>
              </p:cNvPr>
              <p:cNvSpPr txBox="1"/>
              <p:nvPr/>
            </p:nvSpPr>
            <p:spPr>
              <a:xfrm>
                <a:off x="3214737" y="5831054"/>
                <a:ext cx="2714526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4A89CEFE-3F81-4F08-9F24-C456604DC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737" y="5831054"/>
                <a:ext cx="2714526" cy="7789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5656223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90607BE5-1B35-4664-B858-7153E59BD4E9}"/>
                  </a:ext>
                </a:extLst>
              </p:cNvPr>
              <p:cNvSpPr txBox="1"/>
              <p:nvPr/>
            </p:nvSpPr>
            <p:spPr>
              <a:xfrm>
                <a:off x="3214737" y="687855"/>
                <a:ext cx="2268442" cy="10988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²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90607BE5-1B35-4664-B858-7153E59BD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737" y="687855"/>
                <a:ext cx="2268442" cy="10988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EB58A9AF-40CC-4918-B2C3-2FF4530F2111}"/>
              </a:ext>
            </a:extLst>
          </p:cNvPr>
          <p:cNvSpPr/>
          <p:nvPr/>
        </p:nvSpPr>
        <p:spPr>
          <a:xfrm>
            <a:off x="5072835" y="778570"/>
            <a:ext cx="407123" cy="10081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6055D81E-C5F1-49CE-828E-30E78F276D1C}"/>
              </a:ext>
            </a:extLst>
          </p:cNvPr>
          <p:cNvSpPr txBox="1">
            <a:spLocks/>
          </p:cNvSpPr>
          <p:nvPr/>
        </p:nvSpPr>
        <p:spPr bwMode="auto">
          <a:xfrm>
            <a:off x="234158" y="1556792"/>
            <a:ext cx="8229600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pt-BR" sz="2400" dirty="0"/>
          </a:p>
          <a:p>
            <a:pPr marL="0" indent="0">
              <a:buNone/>
              <a:defRPr/>
            </a:pPr>
            <a:r>
              <a:rPr lang="pt-BR" sz="2400" dirty="0"/>
              <a:t>Usando a notação</a:t>
            </a:r>
            <a:endParaRPr lang="pt-BR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427C0E7D-90CA-4E11-A186-E2BE6FE2DF94}"/>
                  </a:ext>
                </a:extLst>
              </p:cNvPr>
              <p:cNvSpPr txBox="1"/>
              <p:nvPr/>
            </p:nvSpPr>
            <p:spPr>
              <a:xfrm>
                <a:off x="3718272" y="2398961"/>
                <a:ext cx="1717585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𝑠𝑒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𝑠𝑒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427C0E7D-90CA-4E11-A186-E2BE6FE2D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272" y="2398961"/>
                <a:ext cx="1717585" cy="6178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7C15C0BF-713D-493E-80F9-E409D79649D9}"/>
                  </a:ext>
                </a:extLst>
              </p:cNvPr>
              <p:cNvSpPr txBox="1"/>
              <p:nvPr/>
            </p:nvSpPr>
            <p:spPr>
              <a:xfrm>
                <a:off x="2788786" y="3719816"/>
                <a:ext cx="3619261" cy="8102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²</m:t>
                              </m:r>
                            </m:sub>
                          </m:sSub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b>
                          </m:sSub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𝑗𝑖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7C15C0BF-713D-493E-80F9-E409D7964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786" y="3719816"/>
                <a:ext cx="3619261" cy="8102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4B7EDE96-DA4C-4C47-90F7-8D11F6B0C8A1}"/>
                  </a:ext>
                </a:extLst>
              </p:cNvPr>
              <p:cNvSpPr txBox="1"/>
              <p:nvPr/>
            </p:nvSpPr>
            <p:spPr>
              <a:xfrm>
                <a:off x="3836412" y="5011834"/>
                <a:ext cx="1471172" cy="5787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²</m:t>
                              </m:r>
                            </m:sub>
                          </m:sSub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²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4B7EDE96-DA4C-4C47-90F7-8D11F6B0C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412" y="5011834"/>
                <a:ext cx="1471172" cy="5787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5F08E535-F061-44EB-8C7B-F64A3509A7C0}"/>
              </a:ext>
            </a:extLst>
          </p:cNvPr>
          <p:cNvSpPr txBox="1">
            <a:spLocks/>
          </p:cNvSpPr>
          <p:nvPr/>
        </p:nvSpPr>
        <p:spPr bwMode="auto">
          <a:xfrm>
            <a:off x="241521" y="2695044"/>
            <a:ext cx="8229600" cy="687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pt-BR" sz="2400" dirty="0"/>
          </a:p>
          <a:p>
            <a:pPr marL="0" indent="0">
              <a:buNone/>
              <a:defRPr/>
            </a:pPr>
            <a:r>
              <a:rPr lang="pt-BR" sz="2400" dirty="0"/>
              <a:t>Temos que: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063830781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D325BFCA-83EF-49C3-A42A-A8AE1BB3BDD3}"/>
              </a:ext>
            </a:extLst>
          </p:cNvPr>
          <p:cNvSpPr txBox="1">
            <a:spLocks/>
          </p:cNvSpPr>
          <p:nvPr/>
        </p:nvSpPr>
        <p:spPr bwMode="auto">
          <a:xfrm>
            <a:off x="457200" y="188640"/>
            <a:ext cx="8229600" cy="9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pt-BR" sz="2400" dirty="0"/>
          </a:p>
          <a:p>
            <a:pPr marL="0" indent="0">
              <a:buNone/>
              <a:defRPr/>
            </a:pPr>
            <a:r>
              <a:rPr lang="pt-BR" sz="2400" dirty="0"/>
              <a:t>Então, utilizando a Eq. (3), temos:</a:t>
            </a:r>
            <a:endParaRPr lang="pt-BR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1023A249-61A5-4B81-9C1C-C7291F2AEA1C}"/>
                  </a:ext>
                </a:extLst>
              </p:cNvPr>
              <p:cNvSpPr txBox="1"/>
              <p:nvPr/>
            </p:nvSpPr>
            <p:spPr>
              <a:xfrm>
                <a:off x="2721814" y="1556792"/>
                <a:ext cx="4112664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²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1023A249-61A5-4B81-9C1C-C7291F2AE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1814" y="1556792"/>
                <a:ext cx="4112664" cy="7789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39A39FA-B556-4245-90D8-435B178765CC}"/>
                  </a:ext>
                </a:extLst>
              </p:cNvPr>
              <p:cNvSpPr txBox="1"/>
              <p:nvPr/>
            </p:nvSpPr>
            <p:spPr>
              <a:xfrm>
                <a:off x="4037783" y="3019817"/>
                <a:ext cx="1068434" cy="81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²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39A39FA-B556-4245-90D8-435B17876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783" y="3019817"/>
                <a:ext cx="1068434" cy="818366"/>
              </a:xfrm>
              <a:prstGeom prst="rect">
                <a:avLst/>
              </a:prstGeom>
              <a:blipFill>
                <a:blip r:embed="rId3"/>
                <a:stretch>
                  <a:fillRect b="-7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tângulo 6">
            <a:extLst>
              <a:ext uri="{FF2B5EF4-FFF2-40B4-BE49-F238E27FC236}">
                <a16:creationId xmlns:a16="http://schemas.microsoft.com/office/drawing/2014/main" id="{A6F364AC-2ECD-430E-98A4-833F75590742}"/>
              </a:ext>
            </a:extLst>
          </p:cNvPr>
          <p:cNvSpPr/>
          <p:nvPr/>
        </p:nvSpPr>
        <p:spPr>
          <a:xfrm>
            <a:off x="3707904" y="2767771"/>
            <a:ext cx="1800200" cy="13681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393876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42517CDE-7689-40B0-8579-52A6AD8A38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528" y="188640"/>
            <a:ext cx="8820472" cy="4525963"/>
          </a:xfrm>
        </p:spPr>
        <p:txBody>
          <a:bodyPr/>
          <a:lstStyle/>
          <a:p>
            <a:pPr marL="0" indent="0">
              <a:buNone/>
            </a:pPr>
            <a:r>
              <a:rPr lang="pt-BR" sz="2000" b="1" dirty="0"/>
              <a:t>Resolução exercício 2 – utilizando a planilha de regressão linear: 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8D27985E-B51B-4E58-B0CF-857C9F56CF9F}"/>
              </a:ext>
            </a:extLst>
          </p:cNvPr>
          <p:cNvGraphicFramePr>
            <a:graphicFrameLocks noGrp="1"/>
          </p:cNvGraphicFramePr>
          <p:nvPr/>
        </p:nvGraphicFramePr>
        <p:xfrm>
          <a:off x="742628" y="836712"/>
          <a:ext cx="7982272" cy="2372625"/>
        </p:xfrm>
        <a:graphic>
          <a:graphicData uri="http://schemas.openxmlformats.org/drawingml/2006/table">
            <a:tbl>
              <a:tblPr/>
              <a:tblGrid>
                <a:gridCol w="651614">
                  <a:extLst>
                    <a:ext uri="{9D8B030D-6E8A-4147-A177-3AD203B41FA5}">
                      <a16:colId xmlns:a16="http://schemas.microsoft.com/office/drawing/2014/main" val="2233821505"/>
                    </a:ext>
                  </a:extLst>
                </a:gridCol>
                <a:gridCol w="719491">
                  <a:extLst>
                    <a:ext uri="{9D8B030D-6E8A-4147-A177-3AD203B41FA5}">
                      <a16:colId xmlns:a16="http://schemas.microsoft.com/office/drawing/2014/main" val="3003148985"/>
                    </a:ext>
                  </a:extLst>
                </a:gridCol>
                <a:gridCol w="882394">
                  <a:extLst>
                    <a:ext uri="{9D8B030D-6E8A-4147-A177-3AD203B41FA5}">
                      <a16:colId xmlns:a16="http://schemas.microsoft.com/office/drawing/2014/main" val="3855876364"/>
                    </a:ext>
                  </a:extLst>
                </a:gridCol>
                <a:gridCol w="651614">
                  <a:extLst>
                    <a:ext uri="{9D8B030D-6E8A-4147-A177-3AD203B41FA5}">
                      <a16:colId xmlns:a16="http://schemas.microsoft.com/office/drawing/2014/main" val="956895366"/>
                    </a:ext>
                  </a:extLst>
                </a:gridCol>
                <a:gridCol w="651614">
                  <a:extLst>
                    <a:ext uri="{9D8B030D-6E8A-4147-A177-3AD203B41FA5}">
                      <a16:colId xmlns:a16="http://schemas.microsoft.com/office/drawing/2014/main" val="2154342131"/>
                    </a:ext>
                  </a:extLst>
                </a:gridCol>
                <a:gridCol w="651614">
                  <a:extLst>
                    <a:ext uri="{9D8B030D-6E8A-4147-A177-3AD203B41FA5}">
                      <a16:colId xmlns:a16="http://schemas.microsoft.com/office/drawing/2014/main" val="4249093895"/>
                    </a:ext>
                  </a:extLst>
                </a:gridCol>
                <a:gridCol w="651614">
                  <a:extLst>
                    <a:ext uri="{9D8B030D-6E8A-4147-A177-3AD203B41FA5}">
                      <a16:colId xmlns:a16="http://schemas.microsoft.com/office/drawing/2014/main" val="3834585118"/>
                    </a:ext>
                  </a:extLst>
                </a:gridCol>
                <a:gridCol w="651614">
                  <a:extLst>
                    <a:ext uri="{9D8B030D-6E8A-4147-A177-3AD203B41FA5}">
                      <a16:colId xmlns:a16="http://schemas.microsoft.com/office/drawing/2014/main" val="247786832"/>
                    </a:ext>
                  </a:extLst>
                </a:gridCol>
                <a:gridCol w="651614">
                  <a:extLst>
                    <a:ext uri="{9D8B030D-6E8A-4147-A177-3AD203B41FA5}">
                      <a16:colId xmlns:a16="http://schemas.microsoft.com/office/drawing/2014/main" val="1338486071"/>
                    </a:ext>
                  </a:extLst>
                </a:gridCol>
                <a:gridCol w="1167475">
                  <a:extLst>
                    <a:ext uri="{9D8B030D-6E8A-4147-A177-3AD203B41FA5}">
                      <a16:colId xmlns:a16="http://schemas.microsoft.com/office/drawing/2014/main" val="1923937740"/>
                    </a:ext>
                  </a:extLst>
                </a:gridCol>
                <a:gridCol w="651614">
                  <a:extLst>
                    <a:ext uri="{9D8B030D-6E8A-4147-A177-3AD203B41FA5}">
                      <a16:colId xmlns:a16="http://schemas.microsoft.com/office/drawing/2014/main" val="3209944413"/>
                    </a:ext>
                  </a:extLst>
                </a:gridCol>
              </a:tblGrid>
              <a:tr h="298542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1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pt-BR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1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  <a:endParaRPr lang="pt-BR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1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xx</a:t>
                      </a:r>
                      <a:endParaRPr lang="pt-BR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1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yx</a:t>
                      </a:r>
                      <a:endParaRPr lang="pt-BR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1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  <a:endParaRPr lang="pt-BR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1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yy</a:t>
                      </a:r>
                      <a:endParaRPr lang="pt-BR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y(x) = a x + b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χ</a:t>
                      </a:r>
                      <a:r>
                        <a:rPr lang="el-GR" sz="154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l-GR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758373"/>
                  </a:ext>
                </a:extLst>
              </a:tr>
              <a:tr h="188553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44,44444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44,44444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44,44444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47,11111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47,11111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49,93778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1,152909091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0,383649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862383"/>
                  </a:ext>
                </a:extLst>
              </a:tr>
              <a:tr h="188553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44,44444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88,88889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177,7778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194,6667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97,33333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213,16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2,165818182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0,025989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2387783"/>
                  </a:ext>
                </a:extLst>
              </a:tr>
              <a:tr h="188553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3,12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44,44444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133,3333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138,6667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432,64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3,178727273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0,153284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694116"/>
                  </a:ext>
                </a:extLst>
              </a:tr>
              <a:tr h="188553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4,12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44,44444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177,7778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711,1111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732,4444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183,1111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754,4178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4,191636364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0,228079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874123"/>
                  </a:ext>
                </a:extLst>
              </a:tr>
              <a:tr h="188553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5,32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44,44444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222,2222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1111,111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1182,222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236,4444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1257,884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5,204545455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0,592433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094874"/>
                  </a:ext>
                </a:extLst>
              </a:tr>
              <a:tr h="188553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6,31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44,44444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266,6667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1682,667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280,4444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1769,604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6,217454545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0,380652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1260282"/>
                  </a:ext>
                </a:extLst>
              </a:tr>
              <a:tr h="188553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7,55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44,44444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311,1111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2177,778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2348,889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335,5556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2533,444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7,230363636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4,540774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235384"/>
                  </a:ext>
                </a:extLst>
              </a:tr>
              <a:tr h="188553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44,44444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355,5556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2844,444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2883,556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360,4444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2923,204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8,243272727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0,789405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680627"/>
                  </a:ext>
                </a:extLst>
              </a:tr>
              <a:tr h="188553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44,44444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3640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404,4444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3680,444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9,256181818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1,084123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433026"/>
                  </a:ext>
                </a:extLst>
              </a:tr>
              <a:tr h="188553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10,23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44,44444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444,4444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4444,444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4546,667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454,6667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4651,24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10,26909091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0,067916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2974047"/>
                  </a:ext>
                </a:extLst>
              </a:tr>
              <a:tr h="188553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444,4444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2444,444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17111,11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17674,22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2538,222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18265,98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8,246303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944432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B9ED2B4E-D8F7-4DA0-9E6D-F9D0FAE7A547}"/>
              </a:ext>
            </a:extLst>
          </p:cNvPr>
          <p:cNvGraphicFramePr>
            <a:graphicFrameLocks noGrp="1"/>
          </p:cNvGraphicFramePr>
          <p:nvPr/>
        </p:nvGraphicFramePr>
        <p:xfrm>
          <a:off x="419100" y="3436670"/>
          <a:ext cx="2208684" cy="2575560"/>
        </p:xfrm>
        <a:graphic>
          <a:graphicData uri="http://schemas.openxmlformats.org/drawingml/2006/table">
            <a:tbl>
              <a:tblPr/>
              <a:tblGrid>
                <a:gridCol w="992036">
                  <a:extLst>
                    <a:ext uri="{9D8B030D-6E8A-4147-A177-3AD203B41FA5}">
                      <a16:colId xmlns:a16="http://schemas.microsoft.com/office/drawing/2014/main" val="1811624157"/>
                    </a:ext>
                  </a:extLst>
                </a:gridCol>
                <a:gridCol w="1216648">
                  <a:extLst>
                    <a:ext uri="{9D8B030D-6E8A-4147-A177-3AD203B41FA5}">
                      <a16:colId xmlns:a16="http://schemas.microsoft.com/office/drawing/2014/main" val="133190054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Colunas1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Colunas2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193986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l-G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Δ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1629629,63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4184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1,012909091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80254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942455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6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0,016514456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965527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6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0,102469508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48276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pt-BR" sz="16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0,997812762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7353729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l-G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χ</a:t>
                      </a:r>
                      <a:r>
                        <a:rPr lang="el-GR" sz="16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pt-BR" sz="16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15,50731306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2621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62106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APROVADO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812032"/>
                  </a:ext>
                </a:extLst>
              </a:tr>
            </a:tbl>
          </a:graphicData>
        </a:graphic>
      </p:graphicFrame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/>
        </p:nvGraphicFramePr>
        <p:xfrm>
          <a:off x="2843808" y="3436670"/>
          <a:ext cx="5881092" cy="3232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12424880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2AC4992C-9D42-4B75-B0B2-C5BE258E29B9}"/>
              </a:ext>
            </a:extLst>
          </p:cNvPr>
          <p:cNvGraphicFramePr>
            <a:graphicFrameLocks noGrp="1"/>
          </p:cNvGraphicFramePr>
          <p:nvPr/>
        </p:nvGraphicFramePr>
        <p:xfrm>
          <a:off x="611560" y="404664"/>
          <a:ext cx="2520280" cy="2849880"/>
        </p:xfrm>
        <a:graphic>
          <a:graphicData uri="http://schemas.openxmlformats.org/drawingml/2006/table">
            <a:tbl>
              <a:tblPr/>
              <a:tblGrid>
                <a:gridCol w="1131990">
                  <a:extLst>
                    <a:ext uri="{9D8B030D-6E8A-4147-A177-3AD203B41FA5}">
                      <a16:colId xmlns:a16="http://schemas.microsoft.com/office/drawing/2014/main" val="1811624157"/>
                    </a:ext>
                  </a:extLst>
                </a:gridCol>
                <a:gridCol w="1388290">
                  <a:extLst>
                    <a:ext uri="{9D8B030D-6E8A-4147-A177-3AD203B41FA5}">
                      <a16:colId xmlns:a16="http://schemas.microsoft.com/office/drawing/2014/main" val="133190054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Colunas1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Colunas2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193986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l-G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Δ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1629629,63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4184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1,012909091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80254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0,14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942455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800" b="1" i="0" u="none" strike="noStrike" baseline="-25000" dirty="0" err="1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endParaRPr lang="pt-BR" sz="18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0,016514456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965527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 err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800" b="1" i="0" u="none" strike="noStrike" baseline="-25000" dirty="0" err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  <a:endParaRPr lang="pt-BR" sz="18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0,102469508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48276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pt-BR" sz="18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0,997812762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7353729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l-G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χ</a:t>
                      </a:r>
                      <a:r>
                        <a:rPr lang="el-GR" sz="18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pt-BR" sz="18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endParaRPr lang="pt-BR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15,50731306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2621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62106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APROVADO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81203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ço Reservado para Conteúdo 2">
                <a:extLst>
                  <a:ext uri="{FF2B5EF4-FFF2-40B4-BE49-F238E27FC236}">
                    <a16:creationId xmlns:a16="http://schemas.microsoft.com/office/drawing/2014/main" id="{5C924C69-588D-49C9-AAA6-265E8697178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347864" y="416124"/>
                <a:ext cx="5796136" cy="1684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defRPr/>
                </a:pPr>
                <a:r>
                  <a:rPr lang="pt-BR" sz="2400" dirty="0"/>
                  <a:t>y(x) = </a:t>
                </a:r>
                <a:r>
                  <a:rPr lang="pt-BR" sz="2400" dirty="0" err="1"/>
                  <a:t>a+bx</a:t>
                </a:r>
                <a:r>
                  <a:rPr lang="pt-BR" sz="2400" dirty="0"/>
                  <a:t> :</a:t>
                </a:r>
              </a:p>
              <a:p>
                <a:pPr marL="0" indent="0">
                  <a:buNone/>
                  <a:defRPr/>
                </a:pPr>
                <a:endParaRPr lang="pt-BR" sz="2400" dirty="0"/>
              </a:p>
              <a:p>
                <a:pPr marL="0" indent="0">
                  <a:buNone/>
                  <a:defRPr/>
                </a:pPr>
                <a:r>
                  <a:rPr lang="pt-BR" sz="2400" dirty="0">
                    <a:solidFill>
                      <a:srgbClr val="7030A0"/>
                    </a:solidFill>
                  </a:rPr>
                  <a:t>b = </a:t>
                </a:r>
                <a:r>
                  <a:rPr lang="pt-BR" sz="2400" b="0" i="0" u="none" strike="noStrike" dirty="0">
                    <a:solidFill>
                      <a:srgbClr val="7030A0"/>
                    </a:solidFill>
                    <a:effectLst/>
                    <a:latin typeface="Calibri" panose="020F0502020204030204" pitchFamily="34" charset="0"/>
                  </a:rPr>
                  <a:t>1,012909091</a:t>
                </a:r>
              </a:p>
              <a:p>
                <a:pPr marL="0" indent="0">
                  <a:buNone/>
                  <a:defRPr/>
                </a:pPr>
                <a:r>
                  <a:rPr lang="pt-BR" sz="2400" dirty="0">
                    <a:solidFill>
                      <a:srgbClr val="002060"/>
                    </a:solidFill>
                  </a:rPr>
                  <a:t>a = </a:t>
                </a:r>
                <a:r>
                  <a:rPr lang="pt-BR" sz="2400" b="0" i="0" u="none" strike="noStrike" dirty="0">
                    <a:solidFill>
                      <a:srgbClr val="002060"/>
                    </a:solidFill>
                    <a:effectLst/>
                    <a:latin typeface="Calibri" panose="020F0502020204030204" pitchFamily="34" charset="0"/>
                  </a:rPr>
                  <a:t>0,14</a:t>
                </a:r>
              </a:p>
              <a:p>
                <a:pPr marL="0" indent="0"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rgbClr val="0070C0"/>
                    </a:solidFill>
                  </a:rPr>
                  <a:t> = </a:t>
                </a:r>
                <a:r>
                  <a:rPr lang="pt-BR" sz="2400" b="0" i="0" u="none" strike="noStrike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</a:rPr>
                  <a:t>0,016514456</a:t>
                </a:r>
              </a:p>
              <a:p>
                <a:pPr marL="0" indent="0"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rgbClr val="00B050"/>
                    </a:solidFill>
                  </a:rPr>
                  <a:t> = </a:t>
                </a:r>
                <a:r>
                  <a:rPr lang="pt-BR" sz="2400" b="0" i="0" u="none" strike="noStrike" dirty="0">
                    <a:solidFill>
                      <a:srgbClr val="00B050"/>
                    </a:solidFill>
                    <a:effectLst/>
                    <a:latin typeface="Calibri" panose="020F0502020204030204" pitchFamily="34" charset="0"/>
                  </a:rPr>
                  <a:t>0,102469508</a:t>
                </a:r>
              </a:p>
              <a:p>
                <a:pPr marL="0" indent="0">
                  <a:buNone/>
                  <a:defRPr/>
                </a:pPr>
                <a:endParaRPr lang="pt-BR" sz="2400" dirty="0"/>
              </a:p>
              <a:p>
                <a:pPr marL="0" indent="0">
                  <a:buNone/>
                  <a:defRPr/>
                </a:pPr>
                <a:r>
                  <a:rPr lang="pt-BR" sz="2400" dirty="0"/>
                  <a:t>A um nível de significância de 5% podemos dizer que os dados são bem ajustados por uma função do primeiro grau.</a:t>
                </a:r>
              </a:p>
              <a:p>
                <a:pPr marL="0" indent="0">
                  <a:buFont typeface="Arial" charset="0"/>
                  <a:buNone/>
                  <a:defRPr/>
                </a:pPr>
                <a:r>
                  <a:rPr lang="pt-BR" sz="2800" dirty="0"/>
                  <a:t>	</a:t>
                </a:r>
              </a:p>
            </p:txBody>
          </p:sp>
        </mc:Choice>
        <mc:Fallback xmlns="">
          <p:sp>
            <p:nvSpPr>
              <p:cNvPr id="5" name="Espaço Reservado para Conteúdo 2">
                <a:extLst>
                  <a:ext uri="{FF2B5EF4-FFF2-40B4-BE49-F238E27FC236}">
                    <a16:creationId xmlns:a16="http://schemas.microsoft.com/office/drawing/2014/main" id="{5C924C69-588D-49C9-AAA6-265E86971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7864" y="416124"/>
                <a:ext cx="5796136" cy="1684338"/>
              </a:xfrm>
              <a:prstGeom prst="rect">
                <a:avLst/>
              </a:prstGeom>
              <a:blipFill>
                <a:blip r:embed="rId2"/>
                <a:stretch>
                  <a:fillRect l="-1577" t="-2888" b="-16065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>
            <a:extLst>
              <a:ext uri="{FF2B5EF4-FFF2-40B4-BE49-F238E27FC236}">
                <a16:creationId xmlns:a16="http://schemas.microsoft.com/office/drawing/2014/main" id="{740EC41A-FE57-434A-BA20-27FA78629754}"/>
              </a:ext>
            </a:extLst>
          </p:cNvPr>
          <p:cNvSpPr txBox="1"/>
          <p:nvPr/>
        </p:nvSpPr>
        <p:spPr>
          <a:xfrm>
            <a:off x="323528" y="5685816"/>
            <a:ext cx="84969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Note que a tabela em cinza foi gerada pela planilha de regressão linear. Assim, foram adotadas cores diferentes para indicar de onde foram extraídos os resultados exigidos no enunciado.</a:t>
            </a:r>
          </a:p>
        </p:txBody>
      </p:sp>
    </p:spTree>
    <p:extLst>
      <p:ext uri="{BB962C8B-B14F-4D97-AF65-F5344CB8AC3E}">
        <p14:creationId xmlns:p14="http://schemas.microsoft.com/office/powerpoint/2010/main" val="817211306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71C9F44C-2B47-4340-A5E7-47FF80A0C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528" y="188640"/>
            <a:ext cx="8820472" cy="421015"/>
          </a:xfrm>
        </p:spPr>
        <p:txBody>
          <a:bodyPr/>
          <a:lstStyle/>
          <a:p>
            <a:pPr marL="0" indent="0">
              <a:buNone/>
            </a:pPr>
            <a:r>
              <a:rPr lang="pt-BR" sz="2000" b="1" dirty="0"/>
              <a:t>Resolução exercício 3: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940D0E19-D0F8-4765-A145-D2EB17E48519}"/>
                  </a:ext>
                </a:extLst>
              </p:cNvPr>
              <p:cNvSpPr txBox="1"/>
              <p:nvPr/>
            </p:nvSpPr>
            <p:spPr>
              <a:xfrm>
                <a:off x="3651234" y="1116271"/>
                <a:ext cx="18370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940D0E19-D0F8-4765-A145-D2EB17E48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234" y="1116271"/>
                <a:ext cx="1837041" cy="276999"/>
              </a:xfrm>
              <a:prstGeom prst="rect">
                <a:avLst/>
              </a:prstGeom>
              <a:blipFill>
                <a:blip r:embed="rId2"/>
                <a:stretch>
                  <a:fillRect l="-2326" r="-2326" b="-260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52277274-D48E-4A03-8F13-DA10199B0B62}"/>
                  </a:ext>
                </a:extLst>
              </p:cNvPr>
              <p:cNvSpPr txBox="1"/>
              <p:nvPr/>
            </p:nvSpPr>
            <p:spPr>
              <a:xfrm>
                <a:off x="4203726" y="2044673"/>
                <a:ext cx="732059" cy="573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̿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52277274-D48E-4A03-8F13-DA10199B0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726" y="2044673"/>
                <a:ext cx="732059" cy="5732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3C958F08-ADD6-4FDD-8434-916A53EA7E92}"/>
                  </a:ext>
                </a:extLst>
              </p:cNvPr>
              <p:cNvSpPr txBox="1"/>
              <p:nvPr/>
            </p:nvSpPr>
            <p:spPr>
              <a:xfrm>
                <a:off x="3303049" y="3347622"/>
                <a:ext cx="2270557" cy="5261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𝑦𝑥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3C958F08-ADD6-4FDD-8434-916A53EA7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049" y="3347622"/>
                <a:ext cx="2270557" cy="5261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156F951E-C9B3-41A2-B03B-2FED2C5C1220}"/>
              </a:ext>
            </a:extLst>
          </p:cNvPr>
          <p:cNvSpPr txBox="1">
            <a:spLocks/>
          </p:cNvSpPr>
          <p:nvPr/>
        </p:nvSpPr>
        <p:spPr bwMode="auto">
          <a:xfrm>
            <a:off x="323528" y="736686"/>
            <a:ext cx="2160240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400" dirty="0"/>
              <a:t>Dados: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FA3E8DB5-4387-474B-B554-352A874286C4}"/>
                  </a:ext>
                </a:extLst>
              </p:cNvPr>
              <p:cNvSpPr txBox="1"/>
              <p:nvPr/>
            </p:nvSpPr>
            <p:spPr>
              <a:xfrm>
                <a:off x="3424248" y="4449023"/>
                <a:ext cx="2291012" cy="5261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²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𝑦𝑥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FA3E8DB5-4387-474B-B554-352A87428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4248" y="4449023"/>
                <a:ext cx="2291012" cy="5261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FBD197C1-BE26-46D9-BCA8-927DC838FC43}"/>
                  </a:ext>
                </a:extLst>
              </p:cNvPr>
              <p:cNvSpPr txBox="1"/>
              <p:nvPr/>
            </p:nvSpPr>
            <p:spPr>
              <a:xfrm>
                <a:off x="3550521" y="5651313"/>
                <a:ext cx="1775614" cy="2979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FBD197C1-BE26-46D9-BCA8-927DC838F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521" y="5651313"/>
                <a:ext cx="1775614" cy="297967"/>
              </a:xfrm>
              <a:prstGeom prst="rect">
                <a:avLst/>
              </a:prstGeom>
              <a:blipFill>
                <a:blip r:embed="rId6"/>
                <a:stretch>
                  <a:fillRect l="-2055" r="-685" b="-2244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E0F4B6DC-C893-4AA8-BA38-4CF72282ED81}"/>
              </a:ext>
            </a:extLst>
          </p:cNvPr>
          <p:cNvSpPr txBox="1">
            <a:spLocks/>
          </p:cNvSpPr>
          <p:nvPr/>
        </p:nvSpPr>
        <p:spPr bwMode="auto">
          <a:xfrm>
            <a:off x="7603357" y="1023335"/>
            <a:ext cx="1217115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000" dirty="0"/>
              <a:t>Eq. (1)</a:t>
            </a:r>
            <a:r>
              <a:rPr lang="pt-BR" sz="2400" dirty="0"/>
              <a:t>	</a:t>
            </a:r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17E07CF5-3DF3-4C77-B76F-3AEF8F500559}"/>
              </a:ext>
            </a:extLst>
          </p:cNvPr>
          <p:cNvSpPr txBox="1">
            <a:spLocks/>
          </p:cNvSpPr>
          <p:nvPr/>
        </p:nvSpPr>
        <p:spPr bwMode="auto">
          <a:xfrm>
            <a:off x="7603356" y="2010313"/>
            <a:ext cx="1217115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000" dirty="0"/>
              <a:t>Eq. (2)</a:t>
            </a:r>
            <a:r>
              <a:rPr lang="pt-BR" sz="2400" dirty="0"/>
              <a:t>	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6DE4C828-933B-4D03-8486-E330F8349A22}"/>
              </a:ext>
            </a:extLst>
          </p:cNvPr>
          <p:cNvSpPr txBox="1">
            <a:spLocks/>
          </p:cNvSpPr>
          <p:nvPr/>
        </p:nvSpPr>
        <p:spPr bwMode="auto">
          <a:xfrm>
            <a:off x="7603356" y="3300494"/>
            <a:ext cx="1217115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000" dirty="0"/>
              <a:t>Eq. (3)</a:t>
            </a:r>
            <a:r>
              <a:rPr lang="pt-BR" sz="2400" dirty="0"/>
              <a:t>	</a:t>
            </a: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FFFBEBBE-0F6B-4A75-BE83-3ECF1DFD0E49}"/>
              </a:ext>
            </a:extLst>
          </p:cNvPr>
          <p:cNvSpPr txBox="1">
            <a:spLocks/>
          </p:cNvSpPr>
          <p:nvPr/>
        </p:nvSpPr>
        <p:spPr bwMode="auto">
          <a:xfrm>
            <a:off x="7603356" y="4401895"/>
            <a:ext cx="1217115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000" dirty="0"/>
              <a:t>Eq. (4)</a:t>
            </a:r>
            <a:r>
              <a:rPr lang="pt-BR" sz="2400" dirty="0"/>
              <a:t>	</a:t>
            </a:r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E6579206-522A-4AAE-91F6-ECB0C621BA12}"/>
              </a:ext>
            </a:extLst>
          </p:cNvPr>
          <p:cNvSpPr txBox="1">
            <a:spLocks/>
          </p:cNvSpPr>
          <p:nvPr/>
        </p:nvSpPr>
        <p:spPr bwMode="auto">
          <a:xfrm>
            <a:off x="7603356" y="5503296"/>
            <a:ext cx="1217115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000" dirty="0"/>
              <a:t>Eq. (5)</a:t>
            </a:r>
            <a:r>
              <a:rPr lang="pt-BR" sz="24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610075470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2DF4063A-54B8-4250-A684-535C41A96758}"/>
              </a:ext>
            </a:extLst>
          </p:cNvPr>
          <p:cNvSpPr txBox="1">
            <a:spLocks/>
          </p:cNvSpPr>
          <p:nvPr/>
        </p:nvSpPr>
        <p:spPr bwMode="auto">
          <a:xfrm>
            <a:off x="359532" y="404664"/>
            <a:ext cx="8424936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400" dirty="0"/>
              <a:t>a) Multiplicando o numerador e o denominador da Eq. (4) por S</a:t>
            </a:r>
            <a:r>
              <a:rPr lang="pt-BR" sz="1600" dirty="0"/>
              <a:t>1</a:t>
            </a:r>
            <a:r>
              <a:rPr lang="pt-BR" sz="2400" dirty="0"/>
              <a:t>, temos: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5C9837B2-8BF7-4A0B-AE5A-3637AD4EC762}"/>
                  </a:ext>
                </a:extLst>
              </p:cNvPr>
              <p:cNvSpPr txBox="1"/>
              <p:nvPr/>
            </p:nvSpPr>
            <p:spPr>
              <a:xfrm>
                <a:off x="2702289" y="1412776"/>
                <a:ext cx="3739422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²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den>
                          </m:f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𝑦𝑥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den>
                          </m:f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5C9837B2-8BF7-4A0B-AE5A-3637AD4EC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2289" y="1412776"/>
                <a:ext cx="3739422" cy="622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FE6136F8-7930-4591-ADEB-B39B5465D97D}"/>
              </a:ext>
            </a:extLst>
          </p:cNvPr>
          <p:cNvSpPr txBox="1">
            <a:spLocks/>
          </p:cNvSpPr>
          <p:nvPr/>
        </p:nvSpPr>
        <p:spPr bwMode="auto">
          <a:xfrm>
            <a:off x="359532" y="2469940"/>
            <a:ext cx="8424936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400" dirty="0"/>
              <a:t>Substituindo a Eq. (5) no primeiro termo e a Eq. (3) no segundo termo: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DAD4C002-4D41-4DAE-A26A-4E5EB5EA47C5}"/>
                  </a:ext>
                </a:extLst>
              </p:cNvPr>
              <p:cNvSpPr txBox="1"/>
              <p:nvPr/>
            </p:nvSpPr>
            <p:spPr>
              <a:xfrm>
                <a:off x="2574426" y="3774775"/>
                <a:ext cx="3994362" cy="6259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²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den>
                          </m:f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den>
                          </m:f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DAD4C002-4D41-4DAE-A26A-4E5EB5EA4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426" y="3774775"/>
                <a:ext cx="3994362" cy="6259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F418D442-895F-4A79-A54B-B8E94B4AB149}"/>
                  </a:ext>
                </a:extLst>
              </p:cNvPr>
              <p:cNvSpPr txBox="1"/>
              <p:nvPr/>
            </p:nvSpPr>
            <p:spPr>
              <a:xfrm>
                <a:off x="3782673" y="5129680"/>
                <a:ext cx="1577868" cy="573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F418D442-895F-4A79-A54B-B8E94B4AB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673" y="5129680"/>
                <a:ext cx="1577868" cy="5732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ângulo 8">
            <a:extLst>
              <a:ext uri="{FF2B5EF4-FFF2-40B4-BE49-F238E27FC236}">
                <a16:creationId xmlns:a16="http://schemas.microsoft.com/office/drawing/2014/main" id="{7FE7800A-C001-47F1-9EF3-529511CEE4C2}"/>
              </a:ext>
            </a:extLst>
          </p:cNvPr>
          <p:cNvSpPr/>
          <p:nvPr/>
        </p:nvSpPr>
        <p:spPr>
          <a:xfrm>
            <a:off x="3563888" y="4941168"/>
            <a:ext cx="2016224" cy="10081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875794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62A5DFF1-9B9E-4110-9FD0-845549F01367}"/>
              </a:ext>
            </a:extLst>
          </p:cNvPr>
          <p:cNvSpPr txBox="1">
            <a:spLocks/>
          </p:cNvSpPr>
          <p:nvPr/>
        </p:nvSpPr>
        <p:spPr bwMode="auto">
          <a:xfrm>
            <a:off x="179512" y="404664"/>
            <a:ext cx="8784976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400" dirty="0"/>
              <a:t>b) Efetuando o produto  notável  no   numerador e  substituindo  a  Eq. (1):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5B56C3AE-0400-45E6-BD8B-13CBC15F4629}"/>
                  </a:ext>
                </a:extLst>
              </p:cNvPr>
              <p:cNvSpPr txBox="1"/>
              <p:nvPr/>
            </p:nvSpPr>
            <p:spPr>
              <a:xfrm>
                <a:off x="0" y="1268760"/>
                <a:ext cx="9143030" cy="15578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sSup>
                                        <m:sSup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2∗</m:t>
                                      </m:r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p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−2∗</m:t>
                          </m:r>
                          <m:nary>
                            <m:naryPr>
                              <m:chr m:val="∑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num>
                                <m:den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e>
                      </m:nary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2∗</m:t>
                      </m:r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acc>
                                <m:accPr>
                                  <m:chr m:val="̅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num>
                            <m:den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̅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²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5B56C3AE-0400-45E6-BD8B-13CBC15F4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268760"/>
                <a:ext cx="9143030" cy="15578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BDB45B55-554B-46F8-8CA8-71F07E8F4CE0}"/>
              </a:ext>
            </a:extLst>
          </p:cNvPr>
          <p:cNvSpPr txBox="1">
            <a:spLocks/>
          </p:cNvSpPr>
          <p:nvPr/>
        </p:nvSpPr>
        <p:spPr bwMode="auto">
          <a:xfrm>
            <a:off x="359047" y="3116609"/>
            <a:ext cx="8424936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400" dirty="0"/>
              <a:t>Usando a propriedade associativa da somatória, fatorando as constantes, substituindo a Eq. (2) e empregando a notação dos “S”, temos: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F207BD57-1527-4F03-B92D-A6F16040FF63}"/>
                  </a:ext>
                </a:extLst>
              </p:cNvPr>
              <p:cNvSpPr txBox="1"/>
              <p:nvPr/>
            </p:nvSpPr>
            <p:spPr>
              <a:xfrm>
                <a:off x="0" y="4437112"/>
                <a:ext cx="9143030" cy="7789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+2∗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−2∗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F207BD57-1527-4F03-B92D-A6F16040F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437112"/>
                <a:ext cx="9143030" cy="7789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B776C821-31EC-4D99-A069-C926E753D5A4}"/>
              </a:ext>
            </a:extLst>
          </p:cNvPr>
          <p:cNvSpPr txBox="1">
            <a:spLocks/>
          </p:cNvSpPr>
          <p:nvPr/>
        </p:nvSpPr>
        <p:spPr bwMode="auto">
          <a:xfrm>
            <a:off x="181257" y="5302591"/>
            <a:ext cx="8424936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400" dirty="0"/>
              <a:t>Substituindo o resultado do item a) e simplificando, obtemos: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A3549442-703B-4E88-B67C-351FD4DDFFFD}"/>
                  </a:ext>
                </a:extLst>
              </p:cNvPr>
              <p:cNvSpPr txBox="1"/>
              <p:nvPr/>
            </p:nvSpPr>
            <p:spPr>
              <a:xfrm>
                <a:off x="-177790" y="5875889"/>
                <a:ext cx="9143030" cy="7789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∗(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A3549442-703B-4E88-B67C-351FD4DDF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7790" y="5875889"/>
                <a:ext cx="9143030" cy="7789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4235143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22FF5558-5956-4475-A2A6-C169ADFD1655}"/>
              </a:ext>
            </a:extLst>
          </p:cNvPr>
          <p:cNvSpPr txBox="1">
            <a:spLocks/>
          </p:cNvSpPr>
          <p:nvPr/>
        </p:nvSpPr>
        <p:spPr bwMode="auto">
          <a:xfrm>
            <a:off x="359532" y="332656"/>
            <a:ext cx="8424936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400" dirty="0"/>
              <a:t>Substituindo a Eq. (3) e simplificando: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5EAEF76D-7107-49F0-864E-0864C9C72435}"/>
                  </a:ext>
                </a:extLst>
              </p:cNvPr>
              <p:cNvSpPr txBox="1"/>
              <p:nvPr/>
            </p:nvSpPr>
            <p:spPr>
              <a:xfrm>
                <a:off x="970" y="2420888"/>
                <a:ext cx="9143030" cy="11249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𝑦𝑥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²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5EAEF76D-7107-49F0-864E-0864C9C72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" y="2420888"/>
                <a:ext cx="9143030" cy="11249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tângulo 5">
            <a:extLst>
              <a:ext uri="{FF2B5EF4-FFF2-40B4-BE49-F238E27FC236}">
                <a16:creationId xmlns:a16="http://schemas.microsoft.com/office/drawing/2014/main" id="{2A2060F6-1778-4615-85A6-F8B77AC0287A}"/>
              </a:ext>
            </a:extLst>
          </p:cNvPr>
          <p:cNvSpPr/>
          <p:nvPr/>
        </p:nvSpPr>
        <p:spPr>
          <a:xfrm>
            <a:off x="2483768" y="2132856"/>
            <a:ext cx="4104456" cy="16561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3398533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D9DDB86B-CDB0-430E-BCED-8B25C4A555CA}"/>
              </a:ext>
            </a:extLst>
          </p:cNvPr>
          <p:cNvSpPr txBox="1">
            <a:spLocks/>
          </p:cNvSpPr>
          <p:nvPr/>
        </p:nvSpPr>
        <p:spPr bwMode="auto">
          <a:xfrm>
            <a:off x="179512" y="404664"/>
            <a:ext cx="8784976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400" dirty="0"/>
              <a:t>c) Efetuando o produto notável no numerador, usando a propriedade associativa da somatória, fatorando as constantes e empregando a notação dos “S”, temos: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E605C7AF-76AC-46CF-8BC5-16A69F40E45F}"/>
                  </a:ext>
                </a:extLst>
              </p:cNvPr>
              <p:cNvSpPr txBox="1"/>
              <p:nvPr/>
            </p:nvSpPr>
            <p:spPr>
              <a:xfrm>
                <a:off x="-1" y="4442308"/>
                <a:ext cx="9143030" cy="7789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E605C7AF-76AC-46CF-8BC5-16A69F40E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4442308"/>
                <a:ext cx="9143030" cy="7789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57279D9-F601-4589-A315-70DFB8B14043}"/>
                  </a:ext>
                </a:extLst>
              </p:cNvPr>
              <p:cNvSpPr txBox="1"/>
              <p:nvPr/>
            </p:nvSpPr>
            <p:spPr>
              <a:xfrm>
                <a:off x="0" y="1820593"/>
                <a:ext cx="9143030" cy="7789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−2∗</m:t>
                      </m:r>
                      <m:acc>
                        <m:accPr>
                          <m:chr m:val="̅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57279D9-F601-4589-A315-70DFB8B14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20593"/>
                <a:ext cx="9143030" cy="7789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D3CE15FA-CDAE-4883-B674-24071A653785}"/>
              </a:ext>
            </a:extLst>
          </p:cNvPr>
          <p:cNvSpPr txBox="1">
            <a:spLocks/>
          </p:cNvSpPr>
          <p:nvPr/>
        </p:nvSpPr>
        <p:spPr bwMode="auto">
          <a:xfrm>
            <a:off x="0" y="3429000"/>
            <a:ext cx="9143029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400" dirty="0"/>
              <a:t>Substituindo a Eq. (2) e simplificando: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91A0037-E0D4-41F2-9A9A-14BE07FF218E}"/>
              </a:ext>
            </a:extLst>
          </p:cNvPr>
          <p:cNvSpPr/>
          <p:nvPr/>
        </p:nvSpPr>
        <p:spPr>
          <a:xfrm>
            <a:off x="3059832" y="4149080"/>
            <a:ext cx="3096344" cy="13681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430304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877EE947-9CAF-45BF-8443-16BE65C64E1D}"/>
              </a:ext>
            </a:extLst>
          </p:cNvPr>
          <p:cNvSpPr txBox="1">
            <a:spLocks/>
          </p:cNvSpPr>
          <p:nvPr/>
        </p:nvSpPr>
        <p:spPr bwMode="auto">
          <a:xfrm>
            <a:off x="179512" y="404664"/>
            <a:ext cx="8784976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400" dirty="0"/>
              <a:t>d) Utilizaremos as seguintes equações que serão demonstradas no final: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64BA132D-A9F5-47B6-92E9-5BA72BDA473F}"/>
                  </a:ext>
                </a:extLst>
              </p:cNvPr>
              <p:cNvSpPr txBox="1"/>
              <p:nvPr/>
            </p:nvSpPr>
            <p:spPr>
              <a:xfrm>
                <a:off x="3636968" y="1556792"/>
                <a:ext cx="1870064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64BA132D-A9F5-47B6-92E9-5BA72BDA4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968" y="1556792"/>
                <a:ext cx="1870064" cy="7789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C58F8D9F-C72D-40B7-931B-13D7CD8CA110}"/>
              </a:ext>
            </a:extLst>
          </p:cNvPr>
          <p:cNvSpPr txBox="1">
            <a:spLocks/>
          </p:cNvSpPr>
          <p:nvPr/>
        </p:nvSpPr>
        <p:spPr bwMode="auto">
          <a:xfrm>
            <a:off x="7452320" y="1762425"/>
            <a:ext cx="1217115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000" dirty="0"/>
              <a:t>Eq. (6)</a:t>
            </a:r>
            <a:r>
              <a:rPr lang="pt-BR" sz="2400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69BA1CBA-728D-4648-8731-A237C0B356B5}"/>
                  </a:ext>
                </a:extLst>
              </p:cNvPr>
              <p:cNvSpPr txBox="1"/>
              <p:nvPr/>
            </p:nvSpPr>
            <p:spPr>
              <a:xfrm>
                <a:off x="2892245" y="2914553"/>
                <a:ext cx="3359509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∗(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m:rPr>
                                  <m:brk m:alnAt="23"/>
                                </m:r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69BA1CBA-728D-4648-8731-A237C0B35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245" y="2914553"/>
                <a:ext cx="3359509" cy="7789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E8662382-73D9-497C-A0CF-10F254F435D4}"/>
              </a:ext>
            </a:extLst>
          </p:cNvPr>
          <p:cNvSpPr txBox="1">
            <a:spLocks/>
          </p:cNvSpPr>
          <p:nvPr/>
        </p:nvSpPr>
        <p:spPr bwMode="auto">
          <a:xfrm>
            <a:off x="7500269" y="3017369"/>
            <a:ext cx="1217115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000" dirty="0"/>
              <a:t>Eq. (7)</a:t>
            </a:r>
            <a:r>
              <a:rPr lang="pt-BR" sz="2400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Espaço Reservado para Conteúdo 2">
                <a:extLst>
                  <a:ext uri="{FF2B5EF4-FFF2-40B4-BE49-F238E27FC236}">
                    <a16:creationId xmlns:a16="http://schemas.microsoft.com/office/drawing/2014/main" id="{FDE77A6F-B38B-412A-A8D9-E38718CFEF2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971" y="4088481"/>
                <a:ext cx="9143029" cy="573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charset="0"/>
                  <a:buNone/>
                </a:pPr>
                <a:r>
                  <a:rPr lang="pt-BR" sz="2400" dirty="0"/>
                  <a:t>Adicionando e subtraindo </a:t>
                </a:r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2400" dirty="0"/>
                  <a:t> no interior do parêntese no numerador:</a:t>
                </a:r>
              </a:p>
            </p:txBody>
          </p:sp>
        </mc:Choice>
        <mc:Fallback xmlns="">
          <p:sp>
            <p:nvSpPr>
              <p:cNvPr id="9" name="Espaço Reservado para Conteúdo 2">
                <a:extLst>
                  <a:ext uri="{FF2B5EF4-FFF2-40B4-BE49-F238E27FC236}">
                    <a16:creationId xmlns:a16="http://schemas.microsoft.com/office/drawing/2014/main" id="{FDE77A6F-B38B-412A-A8D9-E38718CFE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" y="4088481"/>
                <a:ext cx="9143029" cy="573298"/>
              </a:xfrm>
              <a:prstGeom prst="rect">
                <a:avLst/>
              </a:prstGeom>
              <a:blipFill>
                <a:blip r:embed="rId4"/>
                <a:stretch>
                  <a:fillRect l="-1000" t="-8511" r="-600" b="-425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55FE4340-B4DF-4744-8540-F92420A97C47}"/>
                  </a:ext>
                </a:extLst>
              </p:cNvPr>
              <p:cNvSpPr txBox="1"/>
              <p:nvPr/>
            </p:nvSpPr>
            <p:spPr>
              <a:xfrm>
                <a:off x="2178491" y="5056776"/>
                <a:ext cx="4787015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  <m:r>
                                    <m:rPr>
                                      <m:brk m:alnAt="23"/>
                                    </m:r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²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55FE4340-B4DF-4744-8540-F92420A97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491" y="5056776"/>
                <a:ext cx="4787015" cy="7789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8506757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970C8199-F750-4D82-849F-D81CD48E242D}"/>
              </a:ext>
            </a:extLst>
          </p:cNvPr>
          <p:cNvSpPr txBox="1">
            <a:spLocks/>
          </p:cNvSpPr>
          <p:nvPr/>
        </p:nvSpPr>
        <p:spPr bwMode="auto">
          <a:xfrm>
            <a:off x="31965" y="116632"/>
            <a:ext cx="9143029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400" dirty="0"/>
              <a:t>Efetuando o produto notável no numerador, usando a propriedade associativa da somatória, fatorando as constantes e substituindo a Eq. (7), temos: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78A9A867-BC67-4EB9-BBDB-0D336F75BD18}"/>
                  </a:ext>
                </a:extLst>
              </p:cNvPr>
              <p:cNvSpPr txBox="1"/>
              <p:nvPr/>
            </p:nvSpPr>
            <p:spPr>
              <a:xfrm>
                <a:off x="1976029" y="2132856"/>
                <a:ext cx="5254900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²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²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78A9A867-BC67-4EB9-BBDB-0D336F75B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029" y="2132856"/>
                <a:ext cx="5254900" cy="7789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tângulo 5">
            <a:extLst>
              <a:ext uri="{FF2B5EF4-FFF2-40B4-BE49-F238E27FC236}">
                <a16:creationId xmlns:a16="http://schemas.microsoft.com/office/drawing/2014/main" id="{82E271A7-43FF-40FF-8E6A-3E52C2071764}"/>
              </a:ext>
            </a:extLst>
          </p:cNvPr>
          <p:cNvSpPr/>
          <p:nvPr/>
        </p:nvSpPr>
        <p:spPr>
          <a:xfrm>
            <a:off x="1835696" y="1844824"/>
            <a:ext cx="5544616" cy="1440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1457707"/>
      </p:ext>
    </p:extLst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1CCB8BDC-6264-4060-978B-22A9FA8167D5}"/>
              </a:ext>
            </a:extLst>
          </p:cNvPr>
          <p:cNvSpPr txBox="1">
            <a:spLocks/>
          </p:cNvSpPr>
          <p:nvPr/>
        </p:nvSpPr>
        <p:spPr bwMode="auto">
          <a:xfrm>
            <a:off x="31965" y="116632"/>
            <a:ext cx="9143029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400" u="sng" dirty="0"/>
              <a:t>Prova da Eq. (6)</a:t>
            </a:r>
            <a:r>
              <a:rPr lang="pt-BR" sz="2400" dirty="0"/>
              <a:t>: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446B211C-DC62-4541-AFE6-2BAF1D57F700}"/>
              </a:ext>
            </a:extLst>
          </p:cNvPr>
          <p:cNvSpPr txBox="1">
            <a:spLocks/>
          </p:cNvSpPr>
          <p:nvPr/>
        </p:nvSpPr>
        <p:spPr bwMode="auto">
          <a:xfrm>
            <a:off x="17604" y="689930"/>
            <a:ext cx="9143029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400" dirty="0"/>
              <a:t>Substituindo a Eq. (1):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379758C4-071F-403E-BF2A-DCA132DD4B86}"/>
                  </a:ext>
                </a:extLst>
              </p:cNvPr>
              <p:cNvSpPr txBox="1"/>
              <p:nvPr/>
            </p:nvSpPr>
            <p:spPr>
              <a:xfrm>
                <a:off x="2833255" y="1284972"/>
                <a:ext cx="3477490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nary>
                            <m:naryPr>
                              <m:chr m:val="∑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∗</m:t>
                          </m:r>
                          <m:nary>
                            <m:naryPr>
                              <m:chr m:val="∑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379758C4-071F-403E-BF2A-DCA132DD4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255" y="1284972"/>
                <a:ext cx="3477490" cy="7789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507852F0-C832-4372-AD3A-467E22A14347}"/>
              </a:ext>
            </a:extLst>
          </p:cNvPr>
          <p:cNvSpPr txBox="1">
            <a:spLocks/>
          </p:cNvSpPr>
          <p:nvPr/>
        </p:nvSpPr>
        <p:spPr bwMode="auto">
          <a:xfrm>
            <a:off x="0" y="2087634"/>
            <a:ext cx="9143029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400" dirty="0"/>
              <a:t>Substituindo o resultado do item a) empregando a notação dos “S” e simplificando: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59A470A2-7FA4-4C8C-8FC3-739DF6C56F67}"/>
                  </a:ext>
                </a:extLst>
              </p:cNvPr>
              <p:cNvSpPr txBox="1"/>
              <p:nvPr/>
            </p:nvSpPr>
            <p:spPr>
              <a:xfrm>
                <a:off x="2261394" y="3480105"/>
                <a:ext cx="4620239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f>
                                <m:f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59A470A2-7FA4-4C8C-8FC3-739DF6C56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394" y="3480105"/>
                <a:ext cx="4620239" cy="7789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9E34DE0F-238A-4F09-B53F-F9E3BAB9AA75}"/>
              </a:ext>
            </a:extLst>
          </p:cNvPr>
          <p:cNvSpPr txBox="1"/>
          <p:nvPr/>
        </p:nvSpPr>
        <p:spPr>
          <a:xfrm>
            <a:off x="6084168" y="4797152"/>
            <a:ext cx="941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u="sng" dirty="0"/>
              <a:t>C.Q.D</a:t>
            </a:r>
          </a:p>
        </p:txBody>
      </p:sp>
    </p:spTree>
    <p:extLst>
      <p:ext uri="{BB962C8B-B14F-4D97-AF65-F5344CB8AC3E}">
        <p14:creationId xmlns:p14="http://schemas.microsoft.com/office/powerpoint/2010/main" val="3519312977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56E73E88-A3B8-4748-A5D5-9B422D08D1EA}"/>
              </a:ext>
            </a:extLst>
          </p:cNvPr>
          <p:cNvSpPr txBox="1">
            <a:spLocks/>
          </p:cNvSpPr>
          <p:nvPr/>
        </p:nvSpPr>
        <p:spPr bwMode="auto">
          <a:xfrm>
            <a:off x="31965" y="116632"/>
            <a:ext cx="9143029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400" u="sng" dirty="0"/>
              <a:t>Prova da eq. (7)</a:t>
            </a:r>
            <a:r>
              <a:rPr lang="pt-BR" sz="2400" dirty="0"/>
              <a:t>: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ED70CF5B-7631-4513-B8B4-6AB28B1BA511}"/>
              </a:ext>
            </a:extLst>
          </p:cNvPr>
          <p:cNvSpPr txBox="1">
            <a:spLocks/>
          </p:cNvSpPr>
          <p:nvPr/>
        </p:nvSpPr>
        <p:spPr bwMode="auto">
          <a:xfrm>
            <a:off x="17604" y="689930"/>
            <a:ext cx="9143029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400" dirty="0"/>
              <a:t>Utilizando a propriedade associativa da somatória e fatorando as constantes: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D7C65B1-81C8-4572-B10B-7D2128A26F0B}"/>
                  </a:ext>
                </a:extLst>
              </p:cNvPr>
              <p:cNvSpPr txBox="1"/>
              <p:nvPr/>
            </p:nvSpPr>
            <p:spPr>
              <a:xfrm>
                <a:off x="345971" y="1700808"/>
                <a:ext cx="8452057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∗(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m:rPr>
                                  <m:brk m:alnAt="23"/>
                                </m:r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f>
                                    <m:f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²</m:t>
                                      </m:r>
                                      <m:d>
                                        <m:d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∗(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  <m:e>
                                      <m:f>
                                        <m:f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d>
                                            <m:d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  <m:t>𝑆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  <m:sup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p>
                                        <m:e>
                                          <m:f>
                                            <m:f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p>
                                                <m:sSupPr>
                                                  <m:ctrlP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pt-BR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pt-BR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pt-BR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  <m:sup>
                                                  <m: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</m:den>
                                          </m:f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nary>
                                    </m:e>
                                  </m:nary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D7C65B1-81C8-4572-B10B-7D2128A26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971" y="1700808"/>
                <a:ext cx="8452057" cy="7789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AEDB3656-98DF-42C2-8494-9BBDE60A3AD8}"/>
              </a:ext>
            </a:extLst>
          </p:cNvPr>
          <p:cNvSpPr txBox="1">
            <a:spLocks/>
          </p:cNvSpPr>
          <p:nvPr/>
        </p:nvSpPr>
        <p:spPr bwMode="auto">
          <a:xfrm>
            <a:off x="31965" y="2708920"/>
            <a:ext cx="9143029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400" dirty="0"/>
              <a:t>Substituindo a Eq. (6) e a Eq. (1), temos: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8DCA6A11-EA74-45DD-B23B-BE2D8E381851}"/>
                  </a:ext>
                </a:extLst>
              </p:cNvPr>
              <p:cNvSpPr txBox="1"/>
              <p:nvPr/>
            </p:nvSpPr>
            <p:spPr>
              <a:xfrm>
                <a:off x="26771" y="3530063"/>
                <a:ext cx="9117229" cy="6923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6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∗(</m:t>
                              </m:r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m:rPr>
                                  <m:brk m:alnAt="23"/>
                                </m:r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nary>
                            <m:naryPr>
                              <m:chr m:val="∑"/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sSub>
                                    <m:sSubPr>
                                      <m:ctrlP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p>
                                    <m:sSupPr>
                                      <m:ctrlP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6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pt-BR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nary>
                                <m:naryPr>
                                  <m:chr m:val="∑"/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f>
                                    <m:fPr>
                                      <m:ctrlP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pt-BR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pt-BR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pt-B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600" i="1"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pt-BR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−(</m:t>
                                  </m:r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²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  <m:e>
                                      <m:f>
                                        <m:fPr>
                                          <m:ctrlPr>
                                            <a:rPr lang="pt-B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pt-BR" sz="16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pt-BR" sz="16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BR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BR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  <m:sup>
                                              <m:r>
                                                <a:rPr lang="pt-BR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pt-BR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pt-BR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BR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𝑆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BR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  <m:sup>
                                              <m:r>
                                                <a:rPr lang="pt-BR" sz="16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+2∗</m:t>
                                      </m:r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lang="pt-B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pt-BR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pt-BR" sz="1600" i="1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pt-BR" sz="1600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p>
                                        <m:e>
                                          <m:f>
                                            <m:fPr>
                                              <m:ctrlPr>
                                                <a:rPr lang="pt-BR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lang="pt-BR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BR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BR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p>
                                                <m:sSupPr>
                                                  <m:ctrlPr>
                                                    <a:rPr lang="pt-BR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pt-BR" sz="16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pt-BR" sz="16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pt-BR" sz="16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  <m:sup>
                                                  <m:r>
                                                    <a:rPr lang="pt-BR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</m:den>
                                          </m:f>
                                          <m:r>
                                            <a:rPr lang="pt-B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pt-BR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pt-BR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p>
                                              <m:r>
                                                <a:rPr lang="pt-BR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r>
                                            <a:rPr lang="pt-B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pt-BR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pt-B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nary>
                                    </m:e>
                                  </m:nary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8DCA6A11-EA74-45DD-B23B-BE2D8E381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1" y="3530063"/>
                <a:ext cx="9117229" cy="6923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5CE22DEA-DCE5-4BC8-9E81-2A68C214ADAA}"/>
              </a:ext>
            </a:extLst>
          </p:cNvPr>
          <p:cNvSpPr txBox="1">
            <a:spLocks/>
          </p:cNvSpPr>
          <p:nvPr/>
        </p:nvSpPr>
        <p:spPr bwMode="auto">
          <a:xfrm>
            <a:off x="971" y="4498729"/>
            <a:ext cx="9143029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400" dirty="0"/>
              <a:t>Utilizando o resultado do item a), empregando a notação dos “S” e simplificando: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11ADE607-F6EE-471F-9BE6-61321B1F13E8}"/>
                  </a:ext>
                </a:extLst>
              </p:cNvPr>
              <p:cNvSpPr txBox="1"/>
              <p:nvPr/>
            </p:nvSpPr>
            <p:spPr>
              <a:xfrm>
                <a:off x="43404" y="5614600"/>
                <a:ext cx="9117229" cy="6923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6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∗(</m:t>
                              </m:r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m:rPr>
                                  <m:brk m:alnAt="23"/>
                                </m:r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sSub>
                                    <m:sSub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²</m:t>
                                  </m:r>
                                </m:sub>
                              </m:s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pt-BR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pt-B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11ADE607-F6EE-471F-9BE6-61321B1F1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4" y="5614600"/>
                <a:ext cx="9117229" cy="6923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0558470"/>
      </p:ext>
    </p:extLst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4EFB8EE2-DC36-4D0F-86E5-1C0F2D16155A}"/>
              </a:ext>
            </a:extLst>
          </p:cNvPr>
          <p:cNvSpPr txBox="1">
            <a:spLocks/>
          </p:cNvSpPr>
          <p:nvPr/>
        </p:nvSpPr>
        <p:spPr bwMode="auto">
          <a:xfrm>
            <a:off x="0" y="188640"/>
            <a:ext cx="9143029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400" dirty="0"/>
              <a:t>Substituindo a Eq. (3) e a Eq. (5):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B281DDC1-88A7-4B41-A184-995EF437EE33}"/>
                  </a:ext>
                </a:extLst>
              </p:cNvPr>
              <p:cNvSpPr txBox="1"/>
              <p:nvPr/>
            </p:nvSpPr>
            <p:spPr>
              <a:xfrm>
                <a:off x="2891759" y="1916832"/>
                <a:ext cx="3359509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∗(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m:rPr>
                                  <m:brk m:alnAt="23"/>
                                </m:r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B281DDC1-88A7-4B41-A184-995EF437E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759" y="1916832"/>
                <a:ext cx="3359509" cy="7789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>
            <a:extLst>
              <a:ext uri="{FF2B5EF4-FFF2-40B4-BE49-F238E27FC236}">
                <a16:creationId xmlns:a16="http://schemas.microsoft.com/office/drawing/2014/main" id="{AC7B4FD8-9B9A-42CE-A7A5-0636A5793532}"/>
              </a:ext>
            </a:extLst>
          </p:cNvPr>
          <p:cNvSpPr txBox="1"/>
          <p:nvPr/>
        </p:nvSpPr>
        <p:spPr>
          <a:xfrm>
            <a:off x="5780527" y="3244334"/>
            <a:ext cx="941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u="sng" dirty="0"/>
              <a:t>C.Q.D</a:t>
            </a:r>
          </a:p>
        </p:txBody>
      </p:sp>
    </p:spTree>
    <p:extLst>
      <p:ext uri="{BB962C8B-B14F-4D97-AF65-F5344CB8AC3E}">
        <p14:creationId xmlns:p14="http://schemas.microsoft.com/office/powerpoint/2010/main" val="1192686334"/>
      </p:ext>
    </p:extLst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66A2E702-2165-4ABC-B076-3FA1ECFD28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528" y="188641"/>
            <a:ext cx="8820472" cy="501290"/>
          </a:xfrm>
        </p:spPr>
        <p:txBody>
          <a:bodyPr/>
          <a:lstStyle/>
          <a:p>
            <a:pPr marL="0" indent="0">
              <a:buNone/>
            </a:pPr>
            <a:r>
              <a:rPr lang="pt-BR" sz="2000" b="1" dirty="0"/>
              <a:t>Resolução exercício 4: 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15F9493E-D5EA-4946-89E3-37250E2A34CF}"/>
              </a:ext>
            </a:extLst>
          </p:cNvPr>
          <p:cNvSpPr txBox="1">
            <a:spLocks/>
          </p:cNvSpPr>
          <p:nvPr/>
        </p:nvSpPr>
        <p:spPr bwMode="auto">
          <a:xfrm>
            <a:off x="17604" y="689930"/>
            <a:ext cx="9143029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400" dirty="0"/>
              <a:t>a) Empregando o resultado do item d) do exercício 3), a definição geral do R² se reduz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C86FD2D-4078-4E30-B7E7-F0B8981AA849}"/>
                  </a:ext>
                </a:extLst>
              </p:cNvPr>
              <p:cNvSpPr txBox="1"/>
              <p:nvPr/>
            </p:nvSpPr>
            <p:spPr>
              <a:xfrm>
                <a:off x="3131840" y="2359599"/>
                <a:ext cx="2433871" cy="11843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d>
                                            <m:dPr>
                                              <m:ctrlP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pt-B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B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B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C86FD2D-4078-4E30-B7E7-F0B8981AA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359599"/>
                <a:ext cx="2433871" cy="11843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tângulo 6">
            <a:extLst>
              <a:ext uri="{FF2B5EF4-FFF2-40B4-BE49-F238E27FC236}">
                <a16:creationId xmlns:a16="http://schemas.microsoft.com/office/drawing/2014/main" id="{FAA3D120-42C0-4EFD-A956-529A8C0E4375}"/>
              </a:ext>
            </a:extLst>
          </p:cNvPr>
          <p:cNvSpPr/>
          <p:nvPr/>
        </p:nvSpPr>
        <p:spPr>
          <a:xfrm>
            <a:off x="2915816" y="2132856"/>
            <a:ext cx="3024336" cy="15841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2458435"/>
      </p:ext>
    </p:extLst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B3DE5B4A-AA3B-4613-AACD-6F22AEFC5FE1}"/>
              </a:ext>
            </a:extLst>
          </p:cNvPr>
          <p:cNvSpPr txBox="1">
            <a:spLocks/>
          </p:cNvSpPr>
          <p:nvPr/>
        </p:nvSpPr>
        <p:spPr bwMode="auto">
          <a:xfrm>
            <a:off x="0" y="188640"/>
            <a:ext cx="9143029" cy="573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pt-BR" sz="2400" dirty="0"/>
              <a:t>b) Substituindo os resultados dos itens b) e c) do exercício 3), respectivamente, no numerador e no denominador do item a) do exercício 4) e simplificando, obtemos: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00B41060-C05F-4C19-8799-326754C29885}"/>
                  </a:ext>
                </a:extLst>
              </p:cNvPr>
              <p:cNvSpPr txBox="1"/>
              <p:nvPr/>
            </p:nvSpPr>
            <p:spPr>
              <a:xfrm>
                <a:off x="2694461" y="3094293"/>
                <a:ext cx="3754105" cy="66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00B41060-C05F-4C19-8799-326754C29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461" y="3094293"/>
                <a:ext cx="3754105" cy="6694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tângulo 5">
            <a:extLst>
              <a:ext uri="{FF2B5EF4-FFF2-40B4-BE49-F238E27FC236}">
                <a16:creationId xmlns:a16="http://schemas.microsoft.com/office/drawing/2014/main" id="{7321E23C-3511-400C-8AB1-47F86CA03F6F}"/>
              </a:ext>
            </a:extLst>
          </p:cNvPr>
          <p:cNvSpPr/>
          <p:nvPr/>
        </p:nvSpPr>
        <p:spPr>
          <a:xfrm>
            <a:off x="2483768" y="2780928"/>
            <a:ext cx="4320480" cy="13681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7406137"/>
      </p:ext>
    </p:extLst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050BA0B3-8FDF-4E9C-B753-E419FDEF39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528" y="188640"/>
            <a:ext cx="8820472" cy="4525963"/>
          </a:xfrm>
        </p:spPr>
        <p:txBody>
          <a:bodyPr/>
          <a:lstStyle/>
          <a:p>
            <a:pPr marL="0" indent="0">
              <a:buNone/>
            </a:pPr>
            <a:r>
              <a:rPr lang="pt-BR" sz="2000" b="1" dirty="0"/>
              <a:t>Resolução exercício 5 – utilizando a planilha de regressão linear: 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D0B4CD39-8BA4-40C1-97E7-8E1B9D387AD9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836711"/>
          <a:ext cx="7315200" cy="1711066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1536943121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654161755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378972452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0818955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726538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9527879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1891786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269346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685821798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69352878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74532365"/>
                    </a:ext>
                  </a:extLst>
                </a:gridCol>
              </a:tblGrid>
              <a:tr h="357256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1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pt-BR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1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  <a:endParaRPr lang="pt-BR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1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xx</a:t>
                      </a:r>
                      <a:endParaRPr lang="pt-BR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1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yx</a:t>
                      </a:r>
                      <a:endParaRPr lang="pt-BR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1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  <a:endParaRPr lang="pt-BR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1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yy</a:t>
                      </a:r>
                      <a:endParaRPr lang="pt-BR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y(x) = a x + b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Χ</a:t>
                      </a:r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²</a:t>
                      </a:r>
                      <a:r>
                        <a:rPr lang="el-GR" sz="154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l-GR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33159"/>
                  </a:ext>
                </a:extLst>
              </a:tr>
              <a:tr h="225635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1,234568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1,234568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1,234568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6,049383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6,049383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29,64198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4,848711881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0,003247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18348"/>
                  </a:ext>
                </a:extLst>
              </a:tr>
              <a:tr h="225635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0,510204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1,530612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4,591837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21,73469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7,244898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102,8776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14,88509085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0,239464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0360925"/>
                  </a:ext>
                </a:extLst>
              </a:tr>
              <a:tr h="225635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0,346021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1,730104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8,650519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45,32872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9,065744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237,5225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24,92146982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0,565619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503163"/>
                  </a:ext>
                </a:extLst>
              </a:tr>
              <a:tr h="225635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34,6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12,25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60,55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8,65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299,29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34,95784878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0,032014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0110649"/>
                  </a:ext>
                </a:extLst>
              </a:tr>
              <a:tr h="225635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0,226757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2,040816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18,36735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91,22449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10,13605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453,0816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44,99422775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0,01963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963788"/>
                  </a:ext>
                </a:extLst>
              </a:tr>
              <a:tr h="225635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2,56755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8,2861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45,09427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224,8873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41,14608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1122,414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</a:rPr>
                        <a:t>0,859975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31671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ADD81707-FE55-41C4-9FC4-1562A9D637FE}"/>
              </a:ext>
            </a:extLst>
          </p:cNvPr>
          <p:cNvGraphicFramePr>
            <a:graphicFrameLocks noGrp="1"/>
          </p:cNvGraphicFramePr>
          <p:nvPr/>
        </p:nvGraphicFramePr>
        <p:xfrm>
          <a:off x="755576" y="2785199"/>
          <a:ext cx="2016224" cy="2663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1262564247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20890659"/>
                    </a:ext>
                  </a:extLst>
                </a:gridCol>
              </a:tblGrid>
              <a:tr h="234316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Colunas1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Colunas2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52656553"/>
                  </a:ext>
                </a:extLst>
              </a:tr>
              <a:tr h="234316">
                <a:tc>
                  <a:txBody>
                    <a:bodyPr/>
                    <a:lstStyle/>
                    <a:p>
                      <a:pPr algn="ctr" fontAlgn="b"/>
                      <a:r>
                        <a:rPr lang="el-GR" sz="1600" u="none" strike="noStrike" dirty="0">
                          <a:effectLst/>
                        </a:rPr>
                        <a:t>Δ</a:t>
                      </a:r>
                      <a:endParaRPr lang="el-G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>
                          <a:effectLst/>
                        </a:rPr>
                        <a:t>47,122342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4112568"/>
                  </a:ext>
                </a:extLst>
              </a:tr>
              <a:tr h="234316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a</a:t>
                      </a:r>
                      <a:endParaRPr lang="pt-BR" sz="16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5,0181895</a:t>
                      </a:r>
                      <a:endParaRPr lang="pt-BR" sz="16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7521640"/>
                  </a:ext>
                </a:extLst>
              </a:tr>
              <a:tr h="234316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solidFill>
                            <a:srgbClr val="92D050"/>
                          </a:solidFill>
                          <a:effectLst/>
                        </a:rPr>
                        <a:t>b</a:t>
                      </a:r>
                      <a:endParaRPr lang="pt-BR" sz="1600" b="1" i="0" u="none" strike="noStrike" dirty="0">
                        <a:solidFill>
                          <a:srgbClr val="92D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solidFill>
                            <a:srgbClr val="92D050"/>
                          </a:solidFill>
                          <a:effectLst/>
                        </a:rPr>
                        <a:t>-0,169478</a:t>
                      </a:r>
                      <a:endParaRPr lang="pt-BR" sz="1600" b="0" i="0" u="none" strike="noStrike" dirty="0">
                        <a:solidFill>
                          <a:srgbClr val="92D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94657685"/>
                  </a:ext>
                </a:extLst>
              </a:tr>
              <a:tr h="253842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 err="1">
                          <a:solidFill>
                            <a:srgbClr val="002060"/>
                          </a:solidFill>
                          <a:effectLst/>
                        </a:rPr>
                        <a:t>s</a:t>
                      </a:r>
                      <a:r>
                        <a:rPr lang="pt-BR" sz="1600" u="none" strike="noStrike" baseline="-25000" dirty="0" err="1">
                          <a:solidFill>
                            <a:srgbClr val="002060"/>
                          </a:solidFill>
                          <a:effectLst/>
                        </a:rPr>
                        <a:t>a</a:t>
                      </a:r>
                      <a:endParaRPr lang="pt-BR" sz="1600" b="1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0,2334243</a:t>
                      </a:r>
                      <a:endParaRPr lang="pt-BR" sz="1600" b="0" i="0" u="none" strike="noStrike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22021180"/>
                  </a:ext>
                </a:extLst>
              </a:tr>
              <a:tr h="253842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 err="1">
                          <a:solidFill>
                            <a:srgbClr val="7030A0"/>
                          </a:solidFill>
                          <a:effectLst/>
                        </a:rPr>
                        <a:t>s</a:t>
                      </a:r>
                      <a:r>
                        <a:rPr lang="pt-BR" sz="1600" u="none" strike="noStrike" baseline="-25000" dirty="0" err="1">
                          <a:solidFill>
                            <a:srgbClr val="7030A0"/>
                          </a:solidFill>
                          <a:effectLst/>
                        </a:rPr>
                        <a:t>b</a:t>
                      </a:r>
                      <a:endParaRPr lang="pt-BR" sz="1600" b="1" i="0" u="none" strike="noStrike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0,9782441</a:t>
                      </a:r>
                      <a:endParaRPr lang="pt-BR" sz="1600" b="0" i="0" u="none" strike="noStrike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38395310"/>
                  </a:ext>
                </a:extLst>
              </a:tr>
              <a:tr h="2636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R</a:t>
                      </a:r>
                      <a:r>
                        <a:rPr lang="pt-BR" sz="1600" u="none" strike="noStrike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pt-BR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0,9981427</a:t>
                      </a:r>
                      <a:endParaRPr lang="pt-BR" sz="1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07908064"/>
                  </a:ext>
                </a:extLst>
              </a:tr>
              <a:tr h="400290">
                <a:tc>
                  <a:txBody>
                    <a:bodyPr/>
                    <a:lstStyle/>
                    <a:p>
                      <a:pPr algn="ctr" fontAlgn="b"/>
                      <a:r>
                        <a:rPr lang="el-GR" sz="16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χ</a:t>
                      </a:r>
                      <a:r>
                        <a:rPr lang="el-GR" sz="1600" u="none" strike="noStrike" baseline="30000" dirty="0">
                          <a:solidFill>
                            <a:srgbClr val="00B050"/>
                          </a:solidFill>
                          <a:effectLst/>
                        </a:rPr>
                        <a:t>2</a:t>
                      </a:r>
                      <a:r>
                        <a:rPr lang="pt-BR" sz="1600" u="none" strike="noStrike" baseline="-25000" dirty="0">
                          <a:solidFill>
                            <a:srgbClr val="00B050"/>
                          </a:solidFill>
                          <a:effectLst/>
                        </a:rPr>
                        <a:t>C</a:t>
                      </a:r>
                      <a:endParaRPr lang="pt-BR" sz="16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7,8147279</a:t>
                      </a:r>
                      <a:endParaRPr lang="pt-BR" sz="16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35561012"/>
                  </a:ext>
                </a:extLst>
              </a:tr>
              <a:tr h="234316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k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u="none" strike="noStrike" dirty="0">
                          <a:effectLst/>
                        </a:rPr>
                        <a:t>3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86252710"/>
                  </a:ext>
                </a:extLst>
              </a:tr>
              <a:tr h="234316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solidFill>
                            <a:schemeClr val="accent5"/>
                          </a:solidFill>
                          <a:effectLst/>
                        </a:rPr>
                        <a:t>Teste</a:t>
                      </a:r>
                      <a:endParaRPr lang="pt-BR" sz="1600" b="1" i="0" u="none" strike="noStrike">
                        <a:solidFill>
                          <a:schemeClr val="accent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APROVADO</a:t>
                      </a:r>
                      <a:endParaRPr lang="pt-BR" sz="1600" b="0" i="0" u="none" strike="noStrike" dirty="0">
                        <a:solidFill>
                          <a:schemeClr val="accent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75899050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F4C24EE8-58C7-48F4-AECC-54E2C8C2DA16}"/>
              </a:ext>
            </a:extLst>
          </p:cNvPr>
          <p:cNvSpPr txBox="1"/>
          <p:nvPr/>
        </p:nvSpPr>
        <p:spPr>
          <a:xfrm>
            <a:off x="323528" y="5685816"/>
            <a:ext cx="84969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Note que a tabela em azul foi gerada pela planilha de regressão linear. Assim, foram adotadas cores diferentes para indicar de onde foram extraídos os resultados exigidos no enunciado.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38FE501-FA24-4220-B813-501D21ADCBDB}"/>
              </a:ext>
            </a:extLst>
          </p:cNvPr>
          <p:cNvSpPr txBox="1"/>
          <p:nvPr/>
        </p:nvSpPr>
        <p:spPr>
          <a:xfrm>
            <a:off x="2973016" y="2789213"/>
            <a:ext cx="61709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1800" dirty="0"/>
              <a:t>y = a + </a:t>
            </a:r>
            <a:r>
              <a:rPr lang="pt-BR" sz="1800" dirty="0" err="1"/>
              <a:t>bx</a:t>
            </a:r>
            <a:r>
              <a:rPr lang="pt-BR" sz="1800" dirty="0"/>
              <a:t> :</a:t>
            </a:r>
          </a:p>
          <a:p>
            <a:pPr marL="0" indent="0">
              <a:buNone/>
            </a:pPr>
            <a:endParaRPr lang="pt-BR" sz="1800" dirty="0"/>
          </a:p>
          <a:p>
            <a:pPr marL="457200" indent="-457200">
              <a:buFont typeface="+mj-lt"/>
              <a:buAutoNum type="alphaLcParenR"/>
            </a:pPr>
            <a:r>
              <a:rPr lang="pt-BR" sz="1800" dirty="0">
                <a:solidFill>
                  <a:srgbClr val="92D050"/>
                </a:solidFill>
              </a:rPr>
              <a:t>-0,169478</a:t>
            </a:r>
          </a:p>
          <a:p>
            <a:pPr marL="457200" indent="-457200">
              <a:buFont typeface="+mj-lt"/>
              <a:buAutoNum type="alphaLcParenR"/>
            </a:pPr>
            <a:r>
              <a:rPr lang="pt-BR" sz="1800" dirty="0">
                <a:solidFill>
                  <a:srgbClr val="0070C0"/>
                </a:solidFill>
              </a:rPr>
              <a:t>5,0181895</a:t>
            </a:r>
          </a:p>
          <a:p>
            <a:pPr marL="457200" indent="-457200">
              <a:buFont typeface="+mj-lt"/>
              <a:buAutoNum type="alphaLcParenR"/>
            </a:pPr>
            <a:r>
              <a:rPr lang="pt-BR" sz="1800" dirty="0">
                <a:solidFill>
                  <a:srgbClr val="7030A0"/>
                </a:solidFill>
              </a:rPr>
              <a:t>0,9782441</a:t>
            </a:r>
          </a:p>
          <a:p>
            <a:pPr marL="457200" indent="-457200">
              <a:buFont typeface="+mj-lt"/>
              <a:buAutoNum type="alphaLcParenR"/>
            </a:pPr>
            <a:r>
              <a:rPr lang="pt-BR" sz="1800" dirty="0">
                <a:solidFill>
                  <a:srgbClr val="002060"/>
                </a:solidFill>
              </a:rPr>
              <a:t>0,2334243</a:t>
            </a:r>
          </a:p>
          <a:p>
            <a:pPr marL="457200" indent="-457200">
              <a:buFont typeface="+mj-lt"/>
              <a:buAutoNum type="alphaLcParenR"/>
            </a:pPr>
            <a:r>
              <a:rPr lang="pt-BR" dirty="0">
                <a:solidFill>
                  <a:srgbClr val="FF0000"/>
                </a:solidFill>
              </a:rPr>
              <a:t>0,9981427</a:t>
            </a:r>
          </a:p>
          <a:p>
            <a:pPr marL="457200" indent="-457200">
              <a:buFont typeface="+mj-lt"/>
              <a:buAutoNum type="alphaLcParenR"/>
            </a:pPr>
            <a:r>
              <a:rPr lang="pt-BR" dirty="0">
                <a:solidFill>
                  <a:schemeClr val="accent6"/>
                </a:solidFill>
              </a:rPr>
              <a:t>0,859975</a:t>
            </a:r>
          </a:p>
          <a:p>
            <a:pPr marL="457200" indent="-457200">
              <a:buFont typeface="+mj-lt"/>
              <a:buAutoNum type="alphaLcParenR"/>
            </a:pPr>
            <a:r>
              <a:rPr lang="pt-BR" dirty="0">
                <a:solidFill>
                  <a:srgbClr val="00B050"/>
                </a:solidFill>
              </a:rPr>
              <a:t>7,8147279</a:t>
            </a:r>
          </a:p>
        </p:txBody>
      </p:sp>
    </p:spTree>
    <p:extLst>
      <p:ext uri="{BB962C8B-B14F-4D97-AF65-F5344CB8AC3E}">
        <p14:creationId xmlns:p14="http://schemas.microsoft.com/office/powerpoint/2010/main" val="795382314"/>
      </p:ext>
    </p:extLst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6509D8A4-6F7D-45FC-8686-7ACADD268C96}"/>
              </a:ext>
            </a:extLst>
          </p:cNvPr>
          <p:cNvGraphicFramePr>
            <a:graphicFrameLocks/>
          </p:cNvGraphicFramePr>
          <p:nvPr/>
        </p:nvGraphicFramePr>
        <p:xfrm>
          <a:off x="1259632" y="631631"/>
          <a:ext cx="6840760" cy="3662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5B0D940F-3C17-4769-8839-78E39D7CE3F1}"/>
              </a:ext>
            </a:extLst>
          </p:cNvPr>
          <p:cNvSpPr txBox="1"/>
          <p:nvPr/>
        </p:nvSpPr>
        <p:spPr>
          <a:xfrm>
            <a:off x="467544" y="260648"/>
            <a:ext cx="6170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1800" dirty="0"/>
              <a:t>h)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A543FAA-3774-4D37-BCC8-8BA7704ECA32}"/>
              </a:ext>
            </a:extLst>
          </p:cNvPr>
          <p:cNvSpPr txBox="1"/>
          <p:nvPr/>
        </p:nvSpPr>
        <p:spPr>
          <a:xfrm>
            <a:off x="467544" y="5013176"/>
            <a:ext cx="81369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1800" dirty="0"/>
              <a:t>i)	Através dos cálculos realizados pela planilha de regressão linear, podemos dizer que os dados são bem ajustados por uma função do primeiro grau, a um nível de significância de 5%.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67062054"/>
      </p:ext>
    </p:extLst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D4A7EC84-BFF5-4359-9EFD-F23B464E19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528" y="188640"/>
            <a:ext cx="8820472" cy="4525963"/>
          </a:xfrm>
        </p:spPr>
        <p:txBody>
          <a:bodyPr/>
          <a:lstStyle/>
          <a:p>
            <a:pPr marL="0" indent="0">
              <a:buNone/>
            </a:pPr>
            <a:r>
              <a:rPr lang="pt-BR" sz="2000" b="1" dirty="0"/>
              <a:t>Resolução exercício 6 – utilizando a planilha de regressão linear: 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3D51FF29-A9E1-4342-8250-E71B35D4323A}"/>
              </a:ext>
            </a:extLst>
          </p:cNvPr>
          <p:cNvGraphicFramePr>
            <a:graphicFrameLocks noGrp="1"/>
          </p:cNvGraphicFramePr>
          <p:nvPr/>
        </p:nvGraphicFramePr>
        <p:xfrm>
          <a:off x="618966" y="908720"/>
          <a:ext cx="7906068" cy="1790836"/>
        </p:xfrm>
        <a:graphic>
          <a:graphicData uri="http://schemas.openxmlformats.org/drawingml/2006/table">
            <a:tbl>
              <a:tblPr/>
              <a:tblGrid>
                <a:gridCol w="658839">
                  <a:extLst>
                    <a:ext uri="{9D8B030D-6E8A-4147-A177-3AD203B41FA5}">
                      <a16:colId xmlns:a16="http://schemas.microsoft.com/office/drawing/2014/main" val="3754944784"/>
                    </a:ext>
                  </a:extLst>
                </a:gridCol>
                <a:gridCol w="727468">
                  <a:extLst>
                    <a:ext uri="{9D8B030D-6E8A-4147-A177-3AD203B41FA5}">
                      <a16:colId xmlns:a16="http://schemas.microsoft.com/office/drawing/2014/main" val="2804011053"/>
                    </a:ext>
                  </a:extLst>
                </a:gridCol>
                <a:gridCol w="727468">
                  <a:extLst>
                    <a:ext uri="{9D8B030D-6E8A-4147-A177-3AD203B41FA5}">
                      <a16:colId xmlns:a16="http://schemas.microsoft.com/office/drawing/2014/main" val="1397321805"/>
                    </a:ext>
                  </a:extLst>
                </a:gridCol>
                <a:gridCol w="658839">
                  <a:extLst>
                    <a:ext uri="{9D8B030D-6E8A-4147-A177-3AD203B41FA5}">
                      <a16:colId xmlns:a16="http://schemas.microsoft.com/office/drawing/2014/main" val="3248859221"/>
                    </a:ext>
                  </a:extLst>
                </a:gridCol>
                <a:gridCol w="658839">
                  <a:extLst>
                    <a:ext uri="{9D8B030D-6E8A-4147-A177-3AD203B41FA5}">
                      <a16:colId xmlns:a16="http://schemas.microsoft.com/office/drawing/2014/main" val="3702838952"/>
                    </a:ext>
                  </a:extLst>
                </a:gridCol>
                <a:gridCol w="658839">
                  <a:extLst>
                    <a:ext uri="{9D8B030D-6E8A-4147-A177-3AD203B41FA5}">
                      <a16:colId xmlns:a16="http://schemas.microsoft.com/office/drawing/2014/main" val="3031143372"/>
                    </a:ext>
                  </a:extLst>
                </a:gridCol>
                <a:gridCol w="658839">
                  <a:extLst>
                    <a:ext uri="{9D8B030D-6E8A-4147-A177-3AD203B41FA5}">
                      <a16:colId xmlns:a16="http://schemas.microsoft.com/office/drawing/2014/main" val="315999795"/>
                    </a:ext>
                  </a:extLst>
                </a:gridCol>
                <a:gridCol w="658839">
                  <a:extLst>
                    <a:ext uri="{9D8B030D-6E8A-4147-A177-3AD203B41FA5}">
                      <a16:colId xmlns:a16="http://schemas.microsoft.com/office/drawing/2014/main" val="1418915135"/>
                    </a:ext>
                  </a:extLst>
                </a:gridCol>
                <a:gridCol w="658839">
                  <a:extLst>
                    <a:ext uri="{9D8B030D-6E8A-4147-A177-3AD203B41FA5}">
                      <a16:colId xmlns:a16="http://schemas.microsoft.com/office/drawing/2014/main" val="1281739184"/>
                    </a:ext>
                  </a:extLst>
                </a:gridCol>
                <a:gridCol w="1180420">
                  <a:extLst>
                    <a:ext uri="{9D8B030D-6E8A-4147-A177-3AD203B41FA5}">
                      <a16:colId xmlns:a16="http://schemas.microsoft.com/office/drawing/2014/main" val="638646395"/>
                    </a:ext>
                  </a:extLst>
                </a:gridCol>
                <a:gridCol w="658839">
                  <a:extLst>
                    <a:ext uri="{9D8B030D-6E8A-4147-A177-3AD203B41FA5}">
                      <a16:colId xmlns:a16="http://schemas.microsoft.com/office/drawing/2014/main" val="943805971"/>
                    </a:ext>
                  </a:extLst>
                </a:gridCol>
              </a:tblGrid>
              <a:tr h="33034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1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pt-BR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1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  <a:endParaRPr lang="pt-BR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1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xx</a:t>
                      </a:r>
                      <a:endParaRPr lang="pt-BR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1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yx</a:t>
                      </a:r>
                      <a:endParaRPr lang="pt-BR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1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  <a:endParaRPr lang="pt-BR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1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yy</a:t>
                      </a:r>
                      <a:endParaRPr lang="pt-BR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y(x) = a x + b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Χ</a:t>
                      </a:r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²</a:t>
                      </a:r>
                      <a:r>
                        <a:rPr lang="el-GR" sz="154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l-GR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49063"/>
                  </a:ext>
                </a:extLst>
              </a:tr>
              <a:tr h="208641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44,44444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44,44444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44,44444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190,44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2,515714286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8,829388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890858"/>
                  </a:ext>
                </a:extLst>
              </a:tr>
              <a:tr h="208641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3,88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44,44444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88,88889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177,7778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344,8889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172,4444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669,0844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3,677428571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1,823786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0142117"/>
                  </a:ext>
                </a:extLst>
              </a:tr>
              <a:tr h="208641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5,19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44,44444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133,3333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230,6667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1197,16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4,839142857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5,471144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285221"/>
                  </a:ext>
                </a:extLst>
              </a:tr>
              <a:tr h="208641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6,03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44,44444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177,7778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711,1111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1616,04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6,000857143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0,037747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2488158"/>
                  </a:ext>
                </a:extLst>
              </a:tr>
              <a:tr h="208641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7,47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44,44444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222,2222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1111,111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1660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2480,04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7,162571429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4,200548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701651"/>
                  </a:ext>
                </a:extLst>
              </a:tr>
              <a:tr h="208641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7,88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44,44444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266,6667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2101,333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350,2222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2759,751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8,324285714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8,77288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1241817"/>
                  </a:ext>
                </a:extLst>
              </a:tr>
              <a:tr h="208641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266,6667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933,3333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4044,444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5962,222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1445,333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8912,516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29,13549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037611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43D3643C-CF36-498C-A6A2-86A7D79BE848}"/>
              </a:ext>
            </a:extLst>
          </p:cNvPr>
          <p:cNvGraphicFramePr>
            <a:graphicFrameLocks noGrp="1"/>
          </p:cNvGraphicFramePr>
          <p:nvPr/>
        </p:nvGraphicFramePr>
        <p:xfrm>
          <a:off x="613138" y="2924944"/>
          <a:ext cx="1654605" cy="2304257"/>
        </p:xfrm>
        <a:graphic>
          <a:graphicData uri="http://schemas.openxmlformats.org/drawingml/2006/table">
            <a:tbl>
              <a:tblPr/>
              <a:tblGrid>
                <a:gridCol w="743170">
                  <a:extLst>
                    <a:ext uri="{9D8B030D-6E8A-4147-A177-3AD203B41FA5}">
                      <a16:colId xmlns:a16="http://schemas.microsoft.com/office/drawing/2014/main" val="2314976630"/>
                    </a:ext>
                  </a:extLst>
                </a:gridCol>
                <a:gridCol w="911435">
                  <a:extLst>
                    <a:ext uri="{9D8B030D-6E8A-4147-A177-3AD203B41FA5}">
                      <a16:colId xmlns:a16="http://schemas.microsoft.com/office/drawing/2014/main" val="1729324306"/>
                    </a:ext>
                  </a:extLst>
                </a:gridCol>
              </a:tblGrid>
              <a:tr h="20947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Colunas1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Colunas2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2349057"/>
                  </a:ext>
                </a:extLst>
              </a:tr>
              <a:tr h="209478"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Δ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207407,4074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259022"/>
                  </a:ext>
                </a:extLst>
              </a:tr>
              <a:tr h="20947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1,161714286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185568"/>
                  </a:ext>
                </a:extLst>
              </a:tr>
              <a:tr h="20947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1,354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366734"/>
                  </a:ext>
                </a:extLst>
              </a:tr>
              <a:tr h="22693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1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0,035856858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6183"/>
                  </a:ext>
                </a:extLst>
              </a:tr>
              <a:tr h="22693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pt-BR" sz="11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0,1396424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284716"/>
                  </a:ext>
                </a:extLst>
              </a:tr>
              <a:tr h="23566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pt-BR" sz="11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0,972992907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8185574"/>
                  </a:ext>
                </a:extLst>
              </a:tr>
              <a:tr h="357858"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χ</a:t>
                      </a:r>
                      <a:r>
                        <a:rPr lang="el-GR" sz="154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pt-BR" sz="154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9,487729037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197818"/>
                  </a:ext>
                </a:extLst>
              </a:tr>
              <a:tr h="20947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296909"/>
                  </a:ext>
                </a:extLst>
              </a:tr>
              <a:tr h="20947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REPROVADO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20629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spaço Reservado para Conteúdo 2">
                <a:extLst>
                  <a:ext uri="{FF2B5EF4-FFF2-40B4-BE49-F238E27FC236}">
                    <a16:creationId xmlns:a16="http://schemas.microsoft.com/office/drawing/2014/main" id="{F4153161-9F74-45F0-AB8D-E9F14E25064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13138" y="5256759"/>
                <a:ext cx="7900776" cy="1531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pt-BR" sz="2000" dirty="0"/>
                  <a:t>Efetuando a regressão linear e o teste 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000" i="1" smtClean="0">
                            <a:latin typeface="Cambria Math"/>
                          </a:rPr>
                          <m:t>χ</m:t>
                        </m:r>
                      </m:e>
                      <m:sup>
                        <m:r>
                          <a:rPr lang="pt-BR" sz="2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000" dirty="0"/>
                  <a:t> pela planilha de regressão linear, a um nível de significância de 5% , rejeitamos a hipótese nula de que a equação horária do movimento do corpo seja do primeiro grau: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𝑣𝑡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000" dirty="0"/>
                  <a:t>(teste reprovado).  Logo, não é possível dizer que o corpo atingiu sua velocidade limite.</a:t>
                </a:r>
              </a:p>
            </p:txBody>
          </p:sp>
        </mc:Choice>
        <mc:Fallback xmlns="">
          <p:sp>
            <p:nvSpPr>
              <p:cNvPr id="12" name="Espaço Reservado para Conteúdo 2">
                <a:extLst>
                  <a:ext uri="{FF2B5EF4-FFF2-40B4-BE49-F238E27FC236}">
                    <a16:creationId xmlns:a16="http://schemas.microsoft.com/office/drawing/2014/main" id="{F4153161-9F74-45F0-AB8D-E9F14E250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3138" y="5256759"/>
                <a:ext cx="7900776" cy="1531329"/>
              </a:xfrm>
              <a:prstGeom prst="rect">
                <a:avLst/>
              </a:prstGeom>
              <a:blipFill>
                <a:blip r:embed="rId3"/>
                <a:stretch>
                  <a:fillRect l="-849" t="-1984" b="-1230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3724204"/>
              </p:ext>
            </p:extLst>
          </p:nvPr>
        </p:nvGraphicFramePr>
        <p:xfrm>
          <a:off x="2698750" y="2730500"/>
          <a:ext cx="5019675" cy="2698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4080696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3331</Words>
  <Application>Microsoft Office PowerPoint</Application>
  <PresentationFormat>Apresentação na tela (4:3)</PresentationFormat>
  <Paragraphs>775</Paragraphs>
  <Slides>72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73" baseType="lpstr">
      <vt:lpstr>Tema do Office</vt:lpstr>
      <vt:lpstr>Tratamento estatístico de dados experimentais</vt:lpstr>
      <vt:lpstr>PLANO DA AULA</vt:lpstr>
      <vt:lpstr>1- Tipos de erro</vt:lpstr>
      <vt:lpstr>1.1- Erros sistemáticos</vt:lpstr>
      <vt:lpstr>1.2- Erros acidentais ou aleatórios </vt:lpstr>
      <vt:lpstr>1.2- Erros acidentais ou aleatórios</vt:lpstr>
      <vt:lpstr>1.2- Leitura de uma régua</vt:lpstr>
      <vt:lpstr>1.3- Tratamento dos erros</vt:lpstr>
      <vt:lpstr>1.3- Tratamento dos erros</vt:lpstr>
      <vt:lpstr>1.4- Precisão e Exatidão (Acurácia)</vt:lpstr>
      <vt:lpstr>1.4- Precisão e exatidão (Acurácia)</vt:lpstr>
      <vt:lpstr>2- Incerteza numa medida direta</vt:lpstr>
      <vt:lpstr>2.1- Histograma</vt:lpstr>
      <vt:lpstr>2.2- Distribuição de probabilidade</vt:lpstr>
      <vt:lpstr>2.3-Teorema Central do Limite</vt:lpstr>
      <vt:lpstr>2.4-Distribuição normal</vt:lpstr>
      <vt:lpstr>2.5-Média e desvio padrão</vt:lpstr>
      <vt:lpstr>2.6-Estimativa dos parâmetros da População</vt:lpstr>
      <vt:lpstr>2.7-Desvio padrão da média</vt:lpstr>
      <vt:lpstr>2.8-A distribuição t de Student</vt:lpstr>
      <vt:lpstr>2.9-O fator t de Student</vt:lpstr>
      <vt:lpstr>2.10-O fator t de Student</vt:lpstr>
      <vt:lpstr>2.10 – Erro de calibração</vt:lpstr>
      <vt:lpstr>3- Propagação de erros</vt:lpstr>
      <vt:lpstr>3.1 – Fórmulas</vt:lpstr>
      <vt:lpstr>4-Ajuste visual x Método dos mínimos quadrados</vt:lpstr>
      <vt:lpstr>4-Método dos mínimos quadrados</vt:lpstr>
      <vt:lpstr>4.1-Princípio da máxima probabilidade</vt:lpstr>
      <vt:lpstr>4.1-Princípio da máxima probabilidade</vt:lpstr>
      <vt:lpstr>Apresentação do PowerPoint</vt:lpstr>
      <vt:lpstr>Apresentação do PowerPoint</vt:lpstr>
      <vt:lpstr>Caso 2: Ajuste de uma Reta</vt:lpstr>
      <vt:lpstr>Apresentação do PowerPoint</vt:lpstr>
      <vt:lpstr>Apresentação do PowerPoint</vt:lpstr>
      <vt:lpstr>Apresentação do PowerPoint</vt:lpstr>
      <vt:lpstr>Apresentação do PowerPoint</vt:lpstr>
      <vt:lpstr>5.1 – Coeficiente de determinação</vt:lpstr>
      <vt:lpstr>5.1- Caso da regressão linear</vt:lpstr>
      <vt:lpstr>5.2-Testes de significância</vt:lpstr>
      <vt:lpstr>5.2-Distribuição de χ^2</vt:lpstr>
      <vt:lpstr>5.2-Distribuição de χ^2</vt:lpstr>
      <vt:lpstr>5.2-Distribuição de χ^2</vt:lpstr>
      <vt:lpstr>5.2-Distribuição de χ^2</vt:lpstr>
      <vt:lpstr>5.2-Distribuição de χ^2 </vt:lpstr>
      <vt:lpstr>5.2-Distribuição de χ^2</vt:lpstr>
      <vt:lpstr>5.3-Teste de χ^2</vt:lpstr>
      <vt:lpstr>5.3-Teste de χ^2</vt:lpstr>
      <vt:lpstr>6-Exercícios</vt:lpstr>
      <vt:lpstr>6-Exercícios</vt:lpstr>
      <vt:lpstr>6-Exercícios</vt:lpstr>
      <vt:lpstr>6-Exercícios</vt:lpstr>
      <vt:lpstr>6-Exercícios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Tratamento estatístico de dados experimentais</dc:title>
  <dc:creator/>
  <cp:lastModifiedBy/>
  <cp:revision>5</cp:revision>
  <dcterms:created xsi:type="dcterms:W3CDTF">2012-03-15T23:40:36Z</dcterms:created>
  <dcterms:modified xsi:type="dcterms:W3CDTF">2022-03-30T14:56:26Z</dcterms:modified>
</cp:coreProperties>
</file>